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0" r:id="rId7"/>
    <p:sldId id="279" r:id="rId8"/>
    <p:sldId id="262" r:id="rId9"/>
    <p:sldId id="264" r:id="rId10"/>
    <p:sldId id="265" r:id="rId11"/>
    <p:sldId id="284" r:id="rId12"/>
    <p:sldId id="266" r:id="rId13"/>
    <p:sldId id="272" r:id="rId14"/>
    <p:sldId id="281" r:id="rId15"/>
    <p:sldId id="280" r:id="rId16"/>
    <p:sldId id="274" r:id="rId17"/>
    <p:sldId id="273" r:id="rId18"/>
    <p:sldId id="275" r:id="rId19"/>
    <p:sldId id="267" r:id="rId20"/>
    <p:sldId id="282" r:id="rId21"/>
    <p:sldId id="283" r:id="rId22"/>
    <p:sldId id="268" r:id="rId23"/>
    <p:sldId id="269" r:id="rId24"/>
    <p:sldId id="270"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98EF46-F723-481B-8DF7-7D30D5EE67A9}" v="649" dt="2025-11-20T15:19:47.891"/>
    <p1510:client id="{F28100E8-F5F5-4A19-86D8-93F6E08133F2}" v="11" dt="2025-11-20T14:14:28.2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hyperlink" Target="https://doi.org/10.24432/C5QK7X" TargetMode="External"/></Relationships>
</file>

<file path=ppt/diagrams/_rels/data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1" Type="http://schemas.openxmlformats.org/officeDocument/2006/relationships/hyperlink" Target="https://doi.org/10.24432/C5QK7X" TargetMode="External"/></Relationships>
</file>

<file path=ppt/diagrams/_rels/drawing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BF77B4-428A-4698-BB66-6CF242A30D9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15FCD4C-062D-4C85-A13D-9E4283E9B038}">
      <dgm:prSet/>
      <dgm:spPr/>
      <dgm:t>
        <a:bodyPr/>
        <a:lstStyle/>
        <a:p>
          <a:r>
            <a:rPr lang="en-US"/>
            <a:t>Łapczyński, M., &amp; Białowąs, S. (2013). "Clickstream Data for Online Shopping." </a:t>
          </a:r>
          <a:r>
            <a:rPr lang="en-US" i="1"/>
            <a:t>Studia Ekonomiczne</a:t>
          </a:r>
          <a:r>
            <a:rPr lang="en-US"/>
            <a:t>. </a:t>
          </a:r>
        </a:p>
      </dgm:t>
    </dgm:pt>
    <dgm:pt modelId="{E9C8F7E5-44D6-47FF-BF99-7C3169275466}" type="parTrans" cxnId="{27EAA45B-2E26-43BA-86B9-A4BC02D22730}">
      <dgm:prSet/>
      <dgm:spPr/>
      <dgm:t>
        <a:bodyPr/>
        <a:lstStyle/>
        <a:p>
          <a:endParaRPr lang="en-US"/>
        </a:p>
      </dgm:t>
    </dgm:pt>
    <dgm:pt modelId="{BE1FDF99-741B-47A2-93C6-ECF319A1BAAD}" type="sibTrans" cxnId="{27EAA45B-2E26-43BA-86B9-A4BC02D22730}">
      <dgm:prSet/>
      <dgm:spPr/>
      <dgm:t>
        <a:bodyPr/>
        <a:lstStyle/>
        <a:p>
          <a:endParaRPr lang="en-US"/>
        </a:p>
      </dgm:t>
    </dgm:pt>
    <dgm:pt modelId="{C08FC349-B648-4F28-8725-55E03D53CD18}">
      <dgm:prSet/>
      <dgm:spPr/>
      <dgm:t>
        <a:bodyPr/>
        <a:lstStyle/>
        <a:p>
          <a:r>
            <a:rPr lang="en-US"/>
            <a:t>UCI Machine Learning Repository. (2019). "Clickstream Data for Online Shopping Dataset." </a:t>
          </a:r>
          <a:r>
            <a:rPr lang="en-US">
              <a:hlinkClick xmlns:r="http://schemas.openxmlformats.org/officeDocument/2006/relationships" r:id="rId1"/>
            </a:rPr>
            <a:t>https://doi.org/10.24432/C5QK7X</a:t>
          </a:r>
          <a:r>
            <a:rPr lang="en-US"/>
            <a:t> </a:t>
          </a:r>
        </a:p>
      </dgm:t>
    </dgm:pt>
    <dgm:pt modelId="{3E899D72-C820-4BD9-B3C3-5E82AA720058}" type="parTrans" cxnId="{C7C8F122-F14D-435A-BD72-D1CACFA9B1B6}">
      <dgm:prSet/>
      <dgm:spPr/>
      <dgm:t>
        <a:bodyPr/>
        <a:lstStyle/>
        <a:p>
          <a:endParaRPr lang="en-US"/>
        </a:p>
      </dgm:t>
    </dgm:pt>
    <dgm:pt modelId="{88921D27-37E5-4F26-8524-DACD51BF7068}" type="sibTrans" cxnId="{C7C8F122-F14D-435A-BD72-D1CACFA9B1B6}">
      <dgm:prSet/>
      <dgm:spPr/>
      <dgm:t>
        <a:bodyPr/>
        <a:lstStyle/>
        <a:p>
          <a:endParaRPr lang="en-US"/>
        </a:p>
      </dgm:t>
    </dgm:pt>
    <dgm:pt modelId="{12D446A0-E5BA-4D34-B3B2-E29F31BCC470}">
      <dgm:prSet/>
      <dgm:spPr/>
      <dgm:t>
        <a:bodyPr/>
        <a:lstStyle/>
        <a:p>
          <a:r>
            <a:rPr lang="en-US"/>
            <a:t>Hastie, T., Tibshirani, R., &amp; Friedman, J. (2009). </a:t>
          </a:r>
          <a:r>
            <a:rPr lang="en-US" i="1"/>
            <a:t>The Elements of Statistical Learning</a:t>
          </a:r>
          <a:r>
            <a:rPr lang="en-US"/>
            <a:t>. Springer. </a:t>
          </a:r>
        </a:p>
      </dgm:t>
    </dgm:pt>
    <dgm:pt modelId="{21DAF820-BFE6-4A86-A283-00ADDEE58827}" type="parTrans" cxnId="{98CFCA88-99D0-4169-85C6-85E0F3C4E111}">
      <dgm:prSet/>
      <dgm:spPr/>
      <dgm:t>
        <a:bodyPr/>
        <a:lstStyle/>
        <a:p>
          <a:endParaRPr lang="en-US"/>
        </a:p>
      </dgm:t>
    </dgm:pt>
    <dgm:pt modelId="{6F5FEEEA-044E-437C-AA11-1AF247E45E4B}" type="sibTrans" cxnId="{98CFCA88-99D0-4169-85C6-85E0F3C4E111}">
      <dgm:prSet/>
      <dgm:spPr/>
      <dgm:t>
        <a:bodyPr/>
        <a:lstStyle/>
        <a:p>
          <a:endParaRPr lang="en-US"/>
        </a:p>
      </dgm:t>
    </dgm:pt>
    <dgm:pt modelId="{02ADB408-4AAB-4EB0-BB05-0F67B9C5DF78}">
      <dgm:prSet/>
      <dgm:spPr/>
      <dgm:t>
        <a:bodyPr/>
        <a:lstStyle/>
        <a:p>
          <a:r>
            <a:rPr lang="en-US"/>
            <a:t>Chen, T., &amp; Guestrin, C. (2016). "XGBoost: A Scalable Tree Boosting System." </a:t>
          </a:r>
          <a:r>
            <a:rPr lang="en-US" i="1"/>
            <a:t>KDD '16</a:t>
          </a:r>
          <a:r>
            <a:rPr lang="en-US"/>
            <a:t>. </a:t>
          </a:r>
        </a:p>
      </dgm:t>
    </dgm:pt>
    <dgm:pt modelId="{21E39ED8-51C7-4316-A38C-CD2A59FC86A5}" type="parTrans" cxnId="{84AC8495-33B6-4FA1-9D99-34DE75498057}">
      <dgm:prSet/>
      <dgm:spPr/>
      <dgm:t>
        <a:bodyPr/>
        <a:lstStyle/>
        <a:p>
          <a:endParaRPr lang="en-US"/>
        </a:p>
      </dgm:t>
    </dgm:pt>
    <dgm:pt modelId="{B8F75F3D-4DB3-4C83-B733-E28087CE894A}" type="sibTrans" cxnId="{84AC8495-33B6-4FA1-9D99-34DE75498057}">
      <dgm:prSet/>
      <dgm:spPr/>
      <dgm:t>
        <a:bodyPr/>
        <a:lstStyle/>
        <a:p>
          <a:endParaRPr lang="en-US"/>
        </a:p>
      </dgm:t>
    </dgm:pt>
    <dgm:pt modelId="{096EECA3-0133-4AB4-8554-5517F5C53CB6}">
      <dgm:prSet/>
      <dgm:spPr/>
      <dgm:t>
        <a:bodyPr/>
        <a:lstStyle/>
        <a:p>
          <a:r>
            <a:rPr lang="en-US"/>
            <a:t>Breiman, L. (2001). "Random Forests." </a:t>
          </a:r>
          <a:r>
            <a:rPr lang="en-US" i="1"/>
            <a:t>Machine Learning</a:t>
          </a:r>
          <a:r>
            <a:rPr lang="en-US"/>
            <a:t>, 45(1), 5-32. </a:t>
          </a:r>
        </a:p>
      </dgm:t>
    </dgm:pt>
    <dgm:pt modelId="{076B5447-233F-45D9-9DF6-DD352D3C0215}" type="parTrans" cxnId="{8ED7A38E-5CF8-43BB-98FE-2E897EB6E6DE}">
      <dgm:prSet/>
      <dgm:spPr/>
      <dgm:t>
        <a:bodyPr/>
        <a:lstStyle/>
        <a:p>
          <a:endParaRPr lang="en-US"/>
        </a:p>
      </dgm:t>
    </dgm:pt>
    <dgm:pt modelId="{D819C52C-0BE0-4930-96FA-D1BDE6522384}" type="sibTrans" cxnId="{8ED7A38E-5CF8-43BB-98FE-2E897EB6E6DE}">
      <dgm:prSet/>
      <dgm:spPr/>
      <dgm:t>
        <a:bodyPr/>
        <a:lstStyle/>
        <a:p>
          <a:endParaRPr lang="en-US"/>
        </a:p>
      </dgm:t>
    </dgm:pt>
    <dgm:pt modelId="{9186CAB4-B0C3-49D7-A2FA-DA39634A2146}" type="pres">
      <dgm:prSet presAssocID="{F4BF77B4-428A-4698-BB66-6CF242A30D94}" presName="linear" presStyleCnt="0">
        <dgm:presLayoutVars>
          <dgm:animLvl val="lvl"/>
          <dgm:resizeHandles val="exact"/>
        </dgm:presLayoutVars>
      </dgm:prSet>
      <dgm:spPr/>
    </dgm:pt>
    <dgm:pt modelId="{B9F78387-337A-4C60-B9DF-4CA2B4D83704}" type="pres">
      <dgm:prSet presAssocID="{D15FCD4C-062D-4C85-A13D-9E4283E9B038}" presName="parentText" presStyleLbl="node1" presStyleIdx="0" presStyleCnt="5">
        <dgm:presLayoutVars>
          <dgm:chMax val="0"/>
          <dgm:bulletEnabled val="1"/>
        </dgm:presLayoutVars>
      </dgm:prSet>
      <dgm:spPr/>
    </dgm:pt>
    <dgm:pt modelId="{30911AC4-0463-4DD7-A036-0B1B343A327D}" type="pres">
      <dgm:prSet presAssocID="{BE1FDF99-741B-47A2-93C6-ECF319A1BAAD}" presName="spacer" presStyleCnt="0"/>
      <dgm:spPr/>
    </dgm:pt>
    <dgm:pt modelId="{5D294F16-225C-4695-B9CD-8C074D5559EE}" type="pres">
      <dgm:prSet presAssocID="{C08FC349-B648-4F28-8725-55E03D53CD18}" presName="parentText" presStyleLbl="node1" presStyleIdx="1" presStyleCnt="5">
        <dgm:presLayoutVars>
          <dgm:chMax val="0"/>
          <dgm:bulletEnabled val="1"/>
        </dgm:presLayoutVars>
      </dgm:prSet>
      <dgm:spPr/>
    </dgm:pt>
    <dgm:pt modelId="{72EED3AD-3295-4D84-83A4-57B4A3807642}" type="pres">
      <dgm:prSet presAssocID="{88921D27-37E5-4F26-8524-DACD51BF7068}" presName="spacer" presStyleCnt="0"/>
      <dgm:spPr/>
    </dgm:pt>
    <dgm:pt modelId="{CEDD8C8D-D81C-431B-8EEA-1ACEFDCC7E71}" type="pres">
      <dgm:prSet presAssocID="{12D446A0-E5BA-4D34-B3B2-E29F31BCC470}" presName="parentText" presStyleLbl="node1" presStyleIdx="2" presStyleCnt="5">
        <dgm:presLayoutVars>
          <dgm:chMax val="0"/>
          <dgm:bulletEnabled val="1"/>
        </dgm:presLayoutVars>
      </dgm:prSet>
      <dgm:spPr/>
    </dgm:pt>
    <dgm:pt modelId="{BD68612B-6AB8-4D0D-8947-E14E533137B3}" type="pres">
      <dgm:prSet presAssocID="{6F5FEEEA-044E-437C-AA11-1AF247E45E4B}" presName="spacer" presStyleCnt="0"/>
      <dgm:spPr/>
    </dgm:pt>
    <dgm:pt modelId="{96651FAA-D1F5-4404-AE1C-0B382F9E5623}" type="pres">
      <dgm:prSet presAssocID="{02ADB408-4AAB-4EB0-BB05-0F67B9C5DF78}" presName="parentText" presStyleLbl="node1" presStyleIdx="3" presStyleCnt="5">
        <dgm:presLayoutVars>
          <dgm:chMax val="0"/>
          <dgm:bulletEnabled val="1"/>
        </dgm:presLayoutVars>
      </dgm:prSet>
      <dgm:spPr/>
    </dgm:pt>
    <dgm:pt modelId="{B4D1B606-9B6F-43F6-B0AF-126BEBA60B4F}" type="pres">
      <dgm:prSet presAssocID="{B8F75F3D-4DB3-4C83-B733-E28087CE894A}" presName="spacer" presStyleCnt="0"/>
      <dgm:spPr/>
    </dgm:pt>
    <dgm:pt modelId="{DEDBC80A-7450-4327-B222-EC08FD3C60DC}" type="pres">
      <dgm:prSet presAssocID="{096EECA3-0133-4AB4-8554-5517F5C53CB6}" presName="parentText" presStyleLbl="node1" presStyleIdx="4" presStyleCnt="5">
        <dgm:presLayoutVars>
          <dgm:chMax val="0"/>
          <dgm:bulletEnabled val="1"/>
        </dgm:presLayoutVars>
      </dgm:prSet>
      <dgm:spPr/>
    </dgm:pt>
  </dgm:ptLst>
  <dgm:cxnLst>
    <dgm:cxn modelId="{C7C8F122-F14D-435A-BD72-D1CACFA9B1B6}" srcId="{F4BF77B4-428A-4698-BB66-6CF242A30D94}" destId="{C08FC349-B648-4F28-8725-55E03D53CD18}" srcOrd="1" destOrd="0" parTransId="{3E899D72-C820-4BD9-B3C3-5E82AA720058}" sibTransId="{88921D27-37E5-4F26-8524-DACD51BF7068}"/>
    <dgm:cxn modelId="{D2C8D132-6CA6-412D-B080-16270E8EC76A}" type="presOf" srcId="{12D446A0-E5BA-4D34-B3B2-E29F31BCC470}" destId="{CEDD8C8D-D81C-431B-8EEA-1ACEFDCC7E71}" srcOrd="0" destOrd="0" presId="urn:microsoft.com/office/officeart/2005/8/layout/vList2"/>
    <dgm:cxn modelId="{27EAA45B-2E26-43BA-86B9-A4BC02D22730}" srcId="{F4BF77B4-428A-4698-BB66-6CF242A30D94}" destId="{D15FCD4C-062D-4C85-A13D-9E4283E9B038}" srcOrd="0" destOrd="0" parTransId="{E9C8F7E5-44D6-47FF-BF99-7C3169275466}" sibTransId="{BE1FDF99-741B-47A2-93C6-ECF319A1BAAD}"/>
    <dgm:cxn modelId="{98CFCA88-99D0-4169-85C6-85E0F3C4E111}" srcId="{F4BF77B4-428A-4698-BB66-6CF242A30D94}" destId="{12D446A0-E5BA-4D34-B3B2-E29F31BCC470}" srcOrd="2" destOrd="0" parTransId="{21DAF820-BFE6-4A86-A283-00ADDEE58827}" sibTransId="{6F5FEEEA-044E-437C-AA11-1AF247E45E4B}"/>
    <dgm:cxn modelId="{8ED7A38E-5CF8-43BB-98FE-2E897EB6E6DE}" srcId="{F4BF77B4-428A-4698-BB66-6CF242A30D94}" destId="{096EECA3-0133-4AB4-8554-5517F5C53CB6}" srcOrd="4" destOrd="0" parTransId="{076B5447-233F-45D9-9DF6-DD352D3C0215}" sibTransId="{D819C52C-0BE0-4930-96FA-D1BDE6522384}"/>
    <dgm:cxn modelId="{84AC8495-33B6-4FA1-9D99-34DE75498057}" srcId="{F4BF77B4-428A-4698-BB66-6CF242A30D94}" destId="{02ADB408-4AAB-4EB0-BB05-0F67B9C5DF78}" srcOrd="3" destOrd="0" parTransId="{21E39ED8-51C7-4316-A38C-CD2A59FC86A5}" sibTransId="{B8F75F3D-4DB3-4C83-B733-E28087CE894A}"/>
    <dgm:cxn modelId="{1C23FA98-26AA-41C6-9ABF-BBA1A5C103F1}" type="presOf" srcId="{02ADB408-4AAB-4EB0-BB05-0F67B9C5DF78}" destId="{96651FAA-D1F5-4404-AE1C-0B382F9E5623}" srcOrd="0" destOrd="0" presId="urn:microsoft.com/office/officeart/2005/8/layout/vList2"/>
    <dgm:cxn modelId="{3144EFA9-BCC5-443E-89BF-AEDDB9C49BE0}" type="presOf" srcId="{C08FC349-B648-4F28-8725-55E03D53CD18}" destId="{5D294F16-225C-4695-B9CD-8C074D5559EE}" srcOrd="0" destOrd="0" presId="urn:microsoft.com/office/officeart/2005/8/layout/vList2"/>
    <dgm:cxn modelId="{0B102DBD-C9F9-4714-BB3F-C617071E7B2B}" type="presOf" srcId="{F4BF77B4-428A-4698-BB66-6CF242A30D94}" destId="{9186CAB4-B0C3-49D7-A2FA-DA39634A2146}" srcOrd="0" destOrd="0" presId="urn:microsoft.com/office/officeart/2005/8/layout/vList2"/>
    <dgm:cxn modelId="{61160CE6-4C3C-45B7-9BA2-F3C37DB87CFC}" type="presOf" srcId="{D15FCD4C-062D-4C85-A13D-9E4283E9B038}" destId="{B9F78387-337A-4C60-B9DF-4CA2B4D83704}" srcOrd="0" destOrd="0" presId="urn:microsoft.com/office/officeart/2005/8/layout/vList2"/>
    <dgm:cxn modelId="{36262DF7-9A33-44F3-AB91-9801ABCEF5F5}" type="presOf" srcId="{096EECA3-0133-4AB4-8554-5517F5C53CB6}" destId="{DEDBC80A-7450-4327-B222-EC08FD3C60DC}" srcOrd="0" destOrd="0" presId="urn:microsoft.com/office/officeart/2005/8/layout/vList2"/>
    <dgm:cxn modelId="{6F557502-BCED-4DF0-AFA2-E27DC3697914}" type="presParOf" srcId="{9186CAB4-B0C3-49D7-A2FA-DA39634A2146}" destId="{B9F78387-337A-4C60-B9DF-4CA2B4D83704}" srcOrd="0" destOrd="0" presId="urn:microsoft.com/office/officeart/2005/8/layout/vList2"/>
    <dgm:cxn modelId="{C9767DCC-6FC8-468D-BEFB-294DF2EC07E7}" type="presParOf" srcId="{9186CAB4-B0C3-49D7-A2FA-DA39634A2146}" destId="{30911AC4-0463-4DD7-A036-0B1B343A327D}" srcOrd="1" destOrd="0" presId="urn:microsoft.com/office/officeart/2005/8/layout/vList2"/>
    <dgm:cxn modelId="{0209663A-0EEF-48AD-98C8-862C301345ED}" type="presParOf" srcId="{9186CAB4-B0C3-49D7-A2FA-DA39634A2146}" destId="{5D294F16-225C-4695-B9CD-8C074D5559EE}" srcOrd="2" destOrd="0" presId="urn:microsoft.com/office/officeart/2005/8/layout/vList2"/>
    <dgm:cxn modelId="{33AAC2AE-5A93-4F30-94A2-A6E7CA4AA35A}" type="presParOf" srcId="{9186CAB4-B0C3-49D7-A2FA-DA39634A2146}" destId="{72EED3AD-3295-4D84-83A4-57B4A3807642}" srcOrd="3" destOrd="0" presId="urn:microsoft.com/office/officeart/2005/8/layout/vList2"/>
    <dgm:cxn modelId="{97F9BC6D-A86F-4995-B654-087845D08D1E}" type="presParOf" srcId="{9186CAB4-B0C3-49D7-A2FA-DA39634A2146}" destId="{CEDD8C8D-D81C-431B-8EEA-1ACEFDCC7E71}" srcOrd="4" destOrd="0" presId="urn:microsoft.com/office/officeart/2005/8/layout/vList2"/>
    <dgm:cxn modelId="{2A0DE9CC-7856-40A9-96C0-F421D81F0A0A}" type="presParOf" srcId="{9186CAB4-B0C3-49D7-A2FA-DA39634A2146}" destId="{BD68612B-6AB8-4D0D-8947-E14E533137B3}" srcOrd="5" destOrd="0" presId="urn:microsoft.com/office/officeart/2005/8/layout/vList2"/>
    <dgm:cxn modelId="{3F76783B-3F6C-4CE9-B60B-322DA3E2E5F4}" type="presParOf" srcId="{9186CAB4-B0C3-49D7-A2FA-DA39634A2146}" destId="{96651FAA-D1F5-4404-AE1C-0B382F9E5623}" srcOrd="6" destOrd="0" presId="urn:microsoft.com/office/officeart/2005/8/layout/vList2"/>
    <dgm:cxn modelId="{37FCB6D1-7D7A-4D48-8DC0-279D1F7CF56A}" type="presParOf" srcId="{9186CAB4-B0C3-49D7-A2FA-DA39634A2146}" destId="{B4D1B606-9B6F-43F6-B0AF-126BEBA60B4F}" srcOrd="7" destOrd="0" presId="urn:microsoft.com/office/officeart/2005/8/layout/vList2"/>
    <dgm:cxn modelId="{4BC63898-AC17-4183-97A0-543409AFF8E3}" type="presParOf" srcId="{9186CAB4-B0C3-49D7-A2FA-DA39634A2146}" destId="{DEDBC80A-7450-4327-B222-EC08FD3C60D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79DCC1-C3B2-463C-B624-765368D53D99}" type="doc">
      <dgm:prSet loTypeId="urn:microsoft.com/office/officeart/2018/2/layout/IconCircleList" loCatId="icon" qsTypeId="urn:microsoft.com/office/officeart/2005/8/quickstyle/simple1" qsCatId="simple" csTypeId="urn:microsoft.com/office/officeart/2018/5/colors/Iconchunking_neutralbg_accent1_2" csCatId="accent1" phldr="1"/>
      <dgm:spPr/>
      <dgm:t>
        <a:bodyPr/>
        <a:lstStyle/>
        <a:p>
          <a:endParaRPr lang="en-US"/>
        </a:p>
      </dgm:t>
    </dgm:pt>
    <dgm:pt modelId="{2AC45778-87DA-448D-A012-DC1BFC444036}">
      <dgm:prSet/>
      <dgm:spPr/>
      <dgm:t>
        <a:bodyPr/>
        <a:lstStyle/>
        <a:p>
          <a:pPr>
            <a:lnSpc>
              <a:spcPct val="100000"/>
            </a:lnSpc>
          </a:pPr>
          <a:r>
            <a:rPr lang="en-US"/>
            <a:t>Successfully developed a predictive analytics framework that achieves 97.9% accuracy (R²) in forecasting e-commerce session revenue using only behavioral clickstream features. The stacking ensemble approach, combining Random Forest and Gradient Boosting with Linear Regression meta-learner, provides robust predictions while avoiding target leakage</a:t>
          </a:r>
        </a:p>
      </dgm:t>
    </dgm:pt>
    <dgm:pt modelId="{B2EC6DFF-7F8D-48F1-9A44-5E8D7EA07D3D}" type="parTrans" cxnId="{4345B3F6-2552-4FC1-AADF-0505F362BC51}">
      <dgm:prSet/>
      <dgm:spPr/>
      <dgm:t>
        <a:bodyPr/>
        <a:lstStyle/>
        <a:p>
          <a:endParaRPr lang="en-US"/>
        </a:p>
      </dgm:t>
    </dgm:pt>
    <dgm:pt modelId="{A9B652C7-7FE0-4BC5-86D0-FD3BE9C5B59A}" type="sibTrans" cxnId="{4345B3F6-2552-4FC1-AADF-0505F362BC51}">
      <dgm:prSet phldrT="1" phldr="0"/>
      <dgm:spPr/>
      <dgm:t>
        <a:bodyPr/>
        <a:lstStyle/>
        <a:p>
          <a:pPr>
            <a:lnSpc>
              <a:spcPct val="100000"/>
            </a:lnSpc>
          </a:pPr>
          <a:endParaRPr lang="en-US"/>
        </a:p>
      </dgm:t>
    </dgm:pt>
    <dgm:pt modelId="{79FEA2DD-37EE-4925-AFAA-3F981BA41766}">
      <dgm:prSet/>
      <dgm:spPr/>
      <dgm:t>
        <a:bodyPr/>
        <a:lstStyle/>
        <a:p>
          <a:pPr>
            <a:lnSpc>
              <a:spcPct val="100000"/>
            </a:lnSpc>
          </a:pPr>
          <a:r>
            <a:rPr lang="en-US" b="1"/>
            <a:t>Novel User Segmentation:</a:t>
          </a:r>
          <a:r>
            <a:rPr lang="en-US"/>
            <a:t> Identified three distinct behavioral archetypes (Browser, Explorer, Deep Researcher) with 2.6x revenue variation</a:t>
          </a:r>
        </a:p>
      </dgm:t>
    </dgm:pt>
    <dgm:pt modelId="{DBFCEA50-2818-4C25-B65E-E7312A40A634}" type="parTrans" cxnId="{675E4F5F-39FF-4001-8BAE-1AA1B87EE451}">
      <dgm:prSet/>
      <dgm:spPr/>
      <dgm:t>
        <a:bodyPr/>
        <a:lstStyle/>
        <a:p>
          <a:endParaRPr lang="en-US"/>
        </a:p>
      </dgm:t>
    </dgm:pt>
    <dgm:pt modelId="{A92A1DF9-C00C-4AF2-8187-3C8C13A97BB7}" type="sibTrans" cxnId="{675E4F5F-39FF-4001-8BAE-1AA1B87EE451}">
      <dgm:prSet phldrT="3" phldr="0"/>
      <dgm:spPr/>
      <dgm:t>
        <a:bodyPr/>
        <a:lstStyle/>
        <a:p>
          <a:pPr>
            <a:lnSpc>
              <a:spcPct val="100000"/>
            </a:lnSpc>
          </a:pPr>
          <a:endParaRPr lang="en-US"/>
        </a:p>
      </dgm:t>
    </dgm:pt>
    <dgm:pt modelId="{027074EE-E805-4241-A6BA-E01AA2E3BA2E}">
      <dgm:prSet/>
      <dgm:spPr/>
      <dgm:t>
        <a:bodyPr/>
        <a:lstStyle/>
        <a:p>
          <a:pPr>
            <a:lnSpc>
              <a:spcPct val="100000"/>
            </a:lnSpc>
          </a:pPr>
          <a:r>
            <a:rPr lang="en-US" b="1"/>
            <a:t>Efficient Feature Selection</a:t>
          </a:r>
          <a:r>
            <a:rPr lang="en-US"/>
            <a:t>: Reduced 14 raw features to 5 critical engagement metrics without performance loss</a:t>
          </a:r>
        </a:p>
      </dgm:t>
    </dgm:pt>
    <dgm:pt modelId="{93D95D1A-E75A-49E1-8480-9FDFB7D0A007}" type="parTrans" cxnId="{474E8C81-A45B-43E1-BD77-7E8133D4A7DE}">
      <dgm:prSet/>
      <dgm:spPr/>
      <dgm:t>
        <a:bodyPr/>
        <a:lstStyle/>
        <a:p>
          <a:endParaRPr lang="en-US"/>
        </a:p>
      </dgm:t>
    </dgm:pt>
    <dgm:pt modelId="{5BEB3883-9666-4C6D-AFB4-C5F2F035D468}" type="sibTrans" cxnId="{474E8C81-A45B-43E1-BD77-7E8133D4A7DE}">
      <dgm:prSet phldrT="4" phldr="0"/>
      <dgm:spPr/>
      <dgm:t>
        <a:bodyPr/>
        <a:lstStyle/>
        <a:p>
          <a:pPr>
            <a:lnSpc>
              <a:spcPct val="100000"/>
            </a:lnSpc>
          </a:pPr>
          <a:endParaRPr lang="en-US"/>
        </a:p>
      </dgm:t>
    </dgm:pt>
    <dgm:pt modelId="{EDBC0603-1A28-4EB1-B591-6CCC29B0CB16}">
      <dgm:prSet/>
      <dgm:spPr/>
      <dgm:t>
        <a:bodyPr/>
        <a:lstStyle/>
        <a:p>
          <a:pPr>
            <a:lnSpc>
              <a:spcPct val="100000"/>
            </a:lnSpc>
          </a:pPr>
          <a:r>
            <a:rPr lang="en-US" b="1"/>
            <a:t>Production-Ready Model</a:t>
          </a:r>
          <a:r>
            <a:rPr lang="en-US"/>
            <a:t>: Linear Regression achieves best performance (RMSE=46.45) with minimal computational overhead</a:t>
          </a:r>
        </a:p>
      </dgm:t>
    </dgm:pt>
    <dgm:pt modelId="{073F3588-2147-4C35-A95D-4E29BA5A05D7}" type="parTrans" cxnId="{7034D17D-7893-423E-9477-6E6635B1E18F}">
      <dgm:prSet/>
      <dgm:spPr/>
      <dgm:t>
        <a:bodyPr/>
        <a:lstStyle/>
        <a:p>
          <a:endParaRPr lang="en-US"/>
        </a:p>
      </dgm:t>
    </dgm:pt>
    <dgm:pt modelId="{369A6AD9-6871-4151-A948-A4DD7B275CBC}" type="sibTrans" cxnId="{7034D17D-7893-423E-9477-6E6635B1E18F}">
      <dgm:prSet phldrT="5" phldr="0"/>
      <dgm:spPr/>
      <dgm:t>
        <a:bodyPr/>
        <a:lstStyle/>
        <a:p>
          <a:endParaRPr lang="en-US"/>
        </a:p>
      </dgm:t>
    </dgm:pt>
    <dgm:pt modelId="{78B58080-4776-40D8-909E-8EF3E33A551A}" type="pres">
      <dgm:prSet presAssocID="{3F79DCC1-C3B2-463C-B624-765368D53D99}" presName="root" presStyleCnt="0">
        <dgm:presLayoutVars>
          <dgm:dir/>
          <dgm:resizeHandles val="exact"/>
        </dgm:presLayoutVars>
      </dgm:prSet>
      <dgm:spPr/>
    </dgm:pt>
    <dgm:pt modelId="{6C1EB5C9-12F3-4A9F-ABE1-42276C9A2E8F}" type="pres">
      <dgm:prSet presAssocID="{3F79DCC1-C3B2-463C-B624-765368D53D99}" presName="container" presStyleCnt="0">
        <dgm:presLayoutVars>
          <dgm:dir/>
          <dgm:resizeHandles val="exact"/>
        </dgm:presLayoutVars>
      </dgm:prSet>
      <dgm:spPr/>
    </dgm:pt>
    <dgm:pt modelId="{0B55A5EA-083B-464F-B5BF-6DE7E9A30098}" type="pres">
      <dgm:prSet presAssocID="{2AC45778-87DA-448D-A012-DC1BFC444036}" presName="compNode" presStyleCnt="0"/>
      <dgm:spPr/>
    </dgm:pt>
    <dgm:pt modelId="{98EB7399-AA44-4E62-B310-9C1C2450B099}" type="pres">
      <dgm:prSet presAssocID="{2AC45778-87DA-448D-A012-DC1BFC444036}" presName="iconBgRect" presStyleLbl="bgShp" presStyleIdx="0" presStyleCnt="4"/>
      <dgm:spPr/>
    </dgm:pt>
    <dgm:pt modelId="{DE1B7D28-97F2-48B9-B313-29C6D1E9D305}" type="pres">
      <dgm:prSet presAssocID="{2AC45778-87DA-448D-A012-DC1BFC44403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ss Pieces"/>
        </a:ext>
      </dgm:extLst>
    </dgm:pt>
    <dgm:pt modelId="{87828EFA-8C7E-40EF-9522-8CBF6E74F383}" type="pres">
      <dgm:prSet presAssocID="{2AC45778-87DA-448D-A012-DC1BFC444036}" presName="spaceRect" presStyleCnt="0"/>
      <dgm:spPr/>
    </dgm:pt>
    <dgm:pt modelId="{ED1C60D6-1B42-445E-82A8-F5B97E916E02}" type="pres">
      <dgm:prSet presAssocID="{2AC45778-87DA-448D-A012-DC1BFC444036}" presName="textRect" presStyleLbl="revTx" presStyleIdx="0" presStyleCnt="4">
        <dgm:presLayoutVars>
          <dgm:chMax val="1"/>
          <dgm:chPref val="1"/>
        </dgm:presLayoutVars>
      </dgm:prSet>
      <dgm:spPr/>
    </dgm:pt>
    <dgm:pt modelId="{D59D20EE-4E35-4769-BEB2-461D8717DC62}" type="pres">
      <dgm:prSet presAssocID="{A9B652C7-7FE0-4BC5-86D0-FD3BE9C5B59A}" presName="sibTrans" presStyleLbl="sibTrans2D1" presStyleIdx="0" presStyleCnt="0"/>
      <dgm:spPr/>
    </dgm:pt>
    <dgm:pt modelId="{00BB9448-2725-444E-ADCB-4E127620BB74}" type="pres">
      <dgm:prSet presAssocID="{79FEA2DD-37EE-4925-AFAA-3F981BA41766}" presName="compNode" presStyleCnt="0"/>
      <dgm:spPr/>
    </dgm:pt>
    <dgm:pt modelId="{414E1134-CD26-44BE-9D2E-0100BB8EB879}" type="pres">
      <dgm:prSet presAssocID="{79FEA2DD-37EE-4925-AFAA-3F981BA41766}" presName="iconBgRect" presStyleLbl="bgShp" presStyleIdx="1" presStyleCnt="4"/>
      <dgm:spPr/>
    </dgm:pt>
    <dgm:pt modelId="{00918A72-B4F5-4B7F-A25D-C6E4CF098B34}" type="pres">
      <dgm:prSet presAssocID="{79FEA2DD-37EE-4925-AFAA-3F981BA4176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g under Magnifying Glass"/>
        </a:ext>
      </dgm:extLst>
    </dgm:pt>
    <dgm:pt modelId="{606236E2-D6F7-4FD9-9129-3DA6C4E7C636}" type="pres">
      <dgm:prSet presAssocID="{79FEA2DD-37EE-4925-AFAA-3F981BA41766}" presName="spaceRect" presStyleCnt="0"/>
      <dgm:spPr/>
    </dgm:pt>
    <dgm:pt modelId="{B0DB269F-B41F-4568-B531-A5AE5A84D22E}" type="pres">
      <dgm:prSet presAssocID="{79FEA2DD-37EE-4925-AFAA-3F981BA41766}" presName="textRect" presStyleLbl="revTx" presStyleIdx="1" presStyleCnt="4">
        <dgm:presLayoutVars>
          <dgm:chMax val="1"/>
          <dgm:chPref val="1"/>
        </dgm:presLayoutVars>
      </dgm:prSet>
      <dgm:spPr/>
    </dgm:pt>
    <dgm:pt modelId="{D9AA6239-A20C-4D90-BE5E-0D6CD782776C}" type="pres">
      <dgm:prSet presAssocID="{A92A1DF9-C00C-4AF2-8187-3C8C13A97BB7}" presName="sibTrans" presStyleLbl="sibTrans2D1" presStyleIdx="0" presStyleCnt="0"/>
      <dgm:spPr/>
    </dgm:pt>
    <dgm:pt modelId="{6C4096FF-3ADF-454F-A670-E5B42A8C80DD}" type="pres">
      <dgm:prSet presAssocID="{027074EE-E805-4241-A6BA-E01AA2E3BA2E}" presName="compNode" presStyleCnt="0"/>
      <dgm:spPr/>
    </dgm:pt>
    <dgm:pt modelId="{8A5BD04C-B395-44E0-960B-82727FDFEA56}" type="pres">
      <dgm:prSet presAssocID="{027074EE-E805-4241-A6BA-E01AA2E3BA2E}" presName="iconBgRect" presStyleLbl="bgShp" presStyleIdx="2" presStyleCnt="4"/>
      <dgm:spPr/>
    </dgm:pt>
    <dgm:pt modelId="{3010173E-36E7-4424-BA76-DD95E714FB23}" type="pres">
      <dgm:prSet presAssocID="{027074EE-E805-4241-A6BA-E01AA2E3BA2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7F904F6B-0958-4C0D-B06E-A907486BD336}" type="pres">
      <dgm:prSet presAssocID="{027074EE-E805-4241-A6BA-E01AA2E3BA2E}" presName="spaceRect" presStyleCnt="0"/>
      <dgm:spPr/>
    </dgm:pt>
    <dgm:pt modelId="{0F53E811-1923-4EDA-AD5C-F37D09058E1C}" type="pres">
      <dgm:prSet presAssocID="{027074EE-E805-4241-A6BA-E01AA2E3BA2E}" presName="textRect" presStyleLbl="revTx" presStyleIdx="2" presStyleCnt="4">
        <dgm:presLayoutVars>
          <dgm:chMax val="1"/>
          <dgm:chPref val="1"/>
        </dgm:presLayoutVars>
      </dgm:prSet>
      <dgm:spPr/>
    </dgm:pt>
    <dgm:pt modelId="{EF50B50D-2E10-4BEA-AD44-3C4037DA6484}" type="pres">
      <dgm:prSet presAssocID="{5BEB3883-9666-4C6D-AFB4-C5F2F035D468}" presName="sibTrans" presStyleLbl="sibTrans2D1" presStyleIdx="0" presStyleCnt="0"/>
      <dgm:spPr/>
    </dgm:pt>
    <dgm:pt modelId="{9A59FC2B-EFAA-4D88-A47F-E856D3DE523A}" type="pres">
      <dgm:prSet presAssocID="{EDBC0603-1A28-4EB1-B591-6CCC29B0CB16}" presName="compNode" presStyleCnt="0"/>
      <dgm:spPr/>
    </dgm:pt>
    <dgm:pt modelId="{F8E0DF56-60B9-46EF-8416-9B8CED298EAC}" type="pres">
      <dgm:prSet presAssocID="{EDBC0603-1A28-4EB1-B591-6CCC29B0CB16}" presName="iconBgRect" presStyleLbl="bgShp" presStyleIdx="3" presStyleCnt="4"/>
      <dgm:spPr/>
    </dgm:pt>
    <dgm:pt modelId="{73D042CB-006D-49C9-8D26-5E15487B65B7}" type="pres">
      <dgm:prSet presAssocID="{EDBC0603-1A28-4EB1-B591-6CCC29B0CB1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608D0D0A-2452-48CA-99EE-9EED126EEC0D}" type="pres">
      <dgm:prSet presAssocID="{EDBC0603-1A28-4EB1-B591-6CCC29B0CB16}" presName="spaceRect" presStyleCnt="0"/>
      <dgm:spPr/>
    </dgm:pt>
    <dgm:pt modelId="{6DBA419A-FAC3-4FF4-975A-176293EEB902}" type="pres">
      <dgm:prSet presAssocID="{EDBC0603-1A28-4EB1-B591-6CCC29B0CB16}" presName="textRect" presStyleLbl="revTx" presStyleIdx="3" presStyleCnt="4">
        <dgm:presLayoutVars>
          <dgm:chMax val="1"/>
          <dgm:chPref val="1"/>
        </dgm:presLayoutVars>
      </dgm:prSet>
      <dgm:spPr/>
    </dgm:pt>
  </dgm:ptLst>
  <dgm:cxnLst>
    <dgm:cxn modelId="{274D8B33-3558-44BA-B0E3-38F41E03AEF4}" type="presOf" srcId="{EDBC0603-1A28-4EB1-B591-6CCC29B0CB16}" destId="{6DBA419A-FAC3-4FF4-975A-176293EEB902}" srcOrd="0" destOrd="0" presId="urn:microsoft.com/office/officeart/2018/2/layout/IconCircleList"/>
    <dgm:cxn modelId="{675E4F5F-39FF-4001-8BAE-1AA1B87EE451}" srcId="{3F79DCC1-C3B2-463C-B624-765368D53D99}" destId="{79FEA2DD-37EE-4925-AFAA-3F981BA41766}" srcOrd="1" destOrd="0" parTransId="{DBFCEA50-2818-4C25-B65E-E7312A40A634}" sibTransId="{A92A1DF9-C00C-4AF2-8187-3C8C13A97BB7}"/>
    <dgm:cxn modelId="{A45C2943-AE45-43D6-B574-746784FF080D}" type="presOf" srcId="{3F79DCC1-C3B2-463C-B624-765368D53D99}" destId="{78B58080-4776-40D8-909E-8EF3E33A551A}" srcOrd="0" destOrd="0" presId="urn:microsoft.com/office/officeart/2018/2/layout/IconCircleList"/>
    <dgm:cxn modelId="{2ED79B43-B238-49A0-8CCD-E2FD43767CE7}" type="presOf" srcId="{A9B652C7-7FE0-4BC5-86D0-FD3BE9C5B59A}" destId="{D59D20EE-4E35-4769-BEB2-461D8717DC62}" srcOrd="0" destOrd="0" presId="urn:microsoft.com/office/officeart/2018/2/layout/IconCircleList"/>
    <dgm:cxn modelId="{C0F47D75-25D9-4FEA-A07E-0C037E4321E0}" type="presOf" srcId="{2AC45778-87DA-448D-A012-DC1BFC444036}" destId="{ED1C60D6-1B42-445E-82A8-F5B97E916E02}" srcOrd="0" destOrd="0" presId="urn:microsoft.com/office/officeart/2018/2/layout/IconCircleList"/>
    <dgm:cxn modelId="{7034D17D-7893-423E-9477-6E6635B1E18F}" srcId="{3F79DCC1-C3B2-463C-B624-765368D53D99}" destId="{EDBC0603-1A28-4EB1-B591-6CCC29B0CB16}" srcOrd="3" destOrd="0" parTransId="{073F3588-2147-4C35-A95D-4E29BA5A05D7}" sibTransId="{369A6AD9-6871-4151-A948-A4DD7B275CBC}"/>
    <dgm:cxn modelId="{474E8C81-A45B-43E1-BD77-7E8133D4A7DE}" srcId="{3F79DCC1-C3B2-463C-B624-765368D53D99}" destId="{027074EE-E805-4241-A6BA-E01AA2E3BA2E}" srcOrd="2" destOrd="0" parTransId="{93D95D1A-E75A-49E1-8480-9FDFB7D0A007}" sibTransId="{5BEB3883-9666-4C6D-AFB4-C5F2F035D468}"/>
    <dgm:cxn modelId="{5926CD9B-EBC7-4328-A141-D386B9E4D770}" type="presOf" srcId="{79FEA2DD-37EE-4925-AFAA-3F981BA41766}" destId="{B0DB269F-B41F-4568-B531-A5AE5A84D22E}" srcOrd="0" destOrd="0" presId="urn:microsoft.com/office/officeart/2018/2/layout/IconCircleList"/>
    <dgm:cxn modelId="{6281259F-2300-4FDF-B66B-692630386A30}" type="presOf" srcId="{A92A1DF9-C00C-4AF2-8187-3C8C13A97BB7}" destId="{D9AA6239-A20C-4D90-BE5E-0D6CD782776C}" srcOrd="0" destOrd="0" presId="urn:microsoft.com/office/officeart/2018/2/layout/IconCircleList"/>
    <dgm:cxn modelId="{FA893BAE-6993-48C0-8984-C96C2706D90A}" type="presOf" srcId="{5BEB3883-9666-4C6D-AFB4-C5F2F035D468}" destId="{EF50B50D-2E10-4BEA-AD44-3C4037DA6484}" srcOrd="0" destOrd="0" presId="urn:microsoft.com/office/officeart/2018/2/layout/IconCircleList"/>
    <dgm:cxn modelId="{8F2531E6-6550-4D56-9084-C4E06B93BD36}" type="presOf" srcId="{027074EE-E805-4241-A6BA-E01AA2E3BA2E}" destId="{0F53E811-1923-4EDA-AD5C-F37D09058E1C}" srcOrd="0" destOrd="0" presId="urn:microsoft.com/office/officeart/2018/2/layout/IconCircleList"/>
    <dgm:cxn modelId="{4345B3F6-2552-4FC1-AADF-0505F362BC51}" srcId="{3F79DCC1-C3B2-463C-B624-765368D53D99}" destId="{2AC45778-87DA-448D-A012-DC1BFC444036}" srcOrd="0" destOrd="0" parTransId="{B2EC6DFF-7F8D-48F1-9A44-5E8D7EA07D3D}" sibTransId="{A9B652C7-7FE0-4BC5-86D0-FD3BE9C5B59A}"/>
    <dgm:cxn modelId="{E0EF56F8-A33E-444D-988E-ABD42D3C928C}" type="presParOf" srcId="{78B58080-4776-40D8-909E-8EF3E33A551A}" destId="{6C1EB5C9-12F3-4A9F-ABE1-42276C9A2E8F}" srcOrd="0" destOrd="0" presId="urn:microsoft.com/office/officeart/2018/2/layout/IconCircleList"/>
    <dgm:cxn modelId="{B3B2ABCC-1886-4636-A080-3614B18A7F5B}" type="presParOf" srcId="{6C1EB5C9-12F3-4A9F-ABE1-42276C9A2E8F}" destId="{0B55A5EA-083B-464F-B5BF-6DE7E9A30098}" srcOrd="0" destOrd="0" presId="urn:microsoft.com/office/officeart/2018/2/layout/IconCircleList"/>
    <dgm:cxn modelId="{C1B0A4BA-7F7B-421E-9B94-DDC1C2AB1DD8}" type="presParOf" srcId="{0B55A5EA-083B-464F-B5BF-6DE7E9A30098}" destId="{98EB7399-AA44-4E62-B310-9C1C2450B099}" srcOrd="0" destOrd="0" presId="urn:microsoft.com/office/officeart/2018/2/layout/IconCircleList"/>
    <dgm:cxn modelId="{0712F38C-21F8-4E4E-B3E9-0A6F77C6017A}" type="presParOf" srcId="{0B55A5EA-083B-464F-B5BF-6DE7E9A30098}" destId="{DE1B7D28-97F2-48B9-B313-29C6D1E9D305}" srcOrd="1" destOrd="0" presId="urn:microsoft.com/office/officeart/2018/2/layout/IconCircleList"/>
    <dgm:cxn modelId="{E8ECE518-168D-40E8-B679-2D6D44CE7184}" type="presParOf" srcId="{0B55A5EA-083B-464F-B5BF-6DE7E9A30098}" destId="{87828EFA-8C7E-40EF-9522-8CBF6E74F383}" srcOrd="2" destOrd="0" presId="urn:microsoft.com/office/officeart/2018/2/layout/IconCircleList"/>
    <dgm:cxn modelId="{F6C5482C-A788-4FF0-9811-8FC139C4F76B}" type="presParOf" srcId="{0B55A5EA-083B-464F-B5BF-6DE7E9A30098}" destId="{ED1C60D6-1B42-445E-82A8-F5B97E916E02}" srcOrd="3" destOrd="0" presId="urn:microsoft.com/office/officeart/2018/2/layout/IconCircleList"/>
    <dgm:cxn modelId="{7013C79D-E7DF-43F9-AB25-908C1B67DB76}" type="presParOf" srcId="{6C1EB5C9-12F3-4A9F-ABE1-42276C9A2E8F}" destId="{D59D20EE-4E35-4769-BEB2-461D8717DC62}" srcOrd="1" destOrd="0" presId="urn:microsoft.com/office/officeart/2018/2/layout/IconCircleList"/>
    <dgm:cxn modelId="{6B45A038-9EC1-4BF7-923F-DAA54509E02D}" type="presParOf" srcId="{6C1EB5C9-12F3-4A9F-ABE1-42276C9A2E8F}" destId="{00BB9448-2725-444E-ADCB-4E127620BB74}" srcOrd="2" destOrd="0" presId="urn:microsoft.com/office/officeart/2018/2/layout/IconCircleList"/>
    <dgm:cxn modelId="{17E7BD70-81FC-48DB-81DE-4FF66B6B7EAE}" type="presParOf" srcId="{00BB9448-2725-444E-ADCB-4E127620BB74}" destId="{414E1134-CD26-44BE-9D2E-0100BB8EB879}" srcOrd="0" destOrd="0" presId="urn:microsoft.com/office/officeart/2018/2/layout/IconCircleList"/>
    <dgm:cxn modelId="{9B2553CE-18AE-4FE1-84D2-B6C9A67B1955}" type="presParOf" srcId="{00BB9448-2725-444E-ADCB-4E127620BB74}" destId="{00918A72-B4F5-4B7F-A25D-C6E4CF098B34}" srcOrd="1" destOrd="0" presId="urn:microsoft.com/office/officeart/2018/2/layout/IconCircleList"/>
    <dgm:cxn modelId="{AEE269F9-0462-428B-8BFF-48B6D0BA938C}" type="presParOf" srcId="{00BB9448-2725-444E-ADCB-4E127620BB74}" destId="{606236E2-D6F7-4FD9-9129-3DA6C4E7C636}" srcOrd="2" destOrd="0" presId="urn:microsoft.com/office/officeart/2018/2/layout/IconCircleList"/>
    <dgm:cxn modelId="{2827C864-B9DB-437C-948F-0F8AF68DD427}" type="presParOf" srcId="{00BB9448-2725-444E-ADCB-4E127620BB74}" destId="{B0DB269F-B41F-4568-B531-A5AE5A84D22E}" srcOrd="3" destOrd="0" presId="urn:microsoft.com/office/officeart/2018/2/layout/IconCircleList"/>
    <dgm:cxn modelId="{B41AA73A-2DAC-4BF9-921F-A1BF55050E15}" type="presParOf" srcId="{6C1EB5C9-12F3-4A9F-ABE1-42276C9A2E8F}" destId="{D9AA6239-A20C-4D90-BE5E-0D6CD782776C}" srcOrd="3" destOrd="0" presId="urn:microsoft.com/office/officeart/2018/2/layout/IconCircleList"/>
    <dgm:cxn modelId="{532A829B-E134-49D6-9F87-CB883E54E62F}" type="presParOf" srcId="{6C1EB5C9-12F3-4A9F-ABE1-42276C9A2E8F}" destId="{6C4096FF-3ADF-454F-A670-E5B42A8C80DD}" srcOrd="4" destOrd="0" presId="urn:microsoft.com/office/officeart/2018/2/layout/IconCircleList"/>
    <dgm:cxn modelId="{ECE78EE9-2B97-4B43-9FCC-605C99CBD847}" type="presParOf" srcId="{6C4096FF-3ADF-454F-A670-E5B42A8C80DD}" destId="{8A5BD04C-B395-44E0-960B-82727FDFEA56}" srcOrd="0" destOrd="0" presId="urn:microsoft.com/office/officeart/2018/2/layout/IconCircleList"/>
    <dgm:cxn modelId="{02F91466-E631-48DF-99E2-70C9ED3E6814}" type="presParOf" srcId="{6C4096FF-3ADF-454F-A670-E5B42A8C80DD}" destId="{3010173E-36E7-4424-BA76-DD95E714FB23}" srcOrd="1" destOrd="0" presId="urn:microsoft.com/office/officeart/2018/2/layout/IconCircleList"/>
    <dgm:cxn modelId="{7BD96B0E-3888-44F3-83DB-CA57C9524246}" type="presParOf" srcId="{6C4096FF-3ADF-454F-A670-E5B42A8C80DD}" destId="{7F904F6B-0958-4C0D-B06E-A907486BD336}" srcOrd="2" destOrd="0" presId="urn:microsoft.com/office/officeart/2018/2/layout/IconCircleList"/>
    <dgm:cxn modelId="{CA75195B-E816-44F4-823C-CE27B61309F7}" type="presParOf" srcId="{6C4096FF-3ADF-454F-A670-E5B42A8C80DD}" destId="{0F53E811-1923-4EDA-AD5C-F37D09058E1C}" srcOrd="3" destOrd="0" presId="urn:microsoft.com/office/officeart/2018/2/layout/IconCircleList"/>
    <dgm:cxn modelId="{C2BF4582-80F8-451C-8698-CE5E18B19907}" type="presParOf" srcId="{6C1EB5C9-12F3-4A9F-ABE1-42276C9A2E8F}" destId="{EF50B50D-2E10-4BEA-AD44-3C4037DA6484}" srcOrd="5" destOrd="0" presId="urn:microsoft.com/office/officeart/2018/2/layout/IconCircleList"/>
    <dgm:cxn modelId="{543C65FF-141E-4ED4-B02B-0E9C0451E844}" type="presParOf" srcId="{6C1EB5C9-12F3-4A9F-ABE1-42276C9A2E8F}" destId="{9A59FC2B-EFAA-4D88-A47F-E856D3DE523A}" srcOrd="6" destOrd="0" presId="urn:microsoft.com/office/officeart/2018/2/layout/IconCircleList"/>
    <dgm:cxn modelId="{F6DFEF47-96E7-45DE-AD3E-7F615AB26B6A}" type="presParOf" srcId="{9A59FC2B-EFAA-4D88-A47F-E856D3DE523A}" destId="{F8E0DF56-60B9-46EF-8416-9B8CED298EAC}" srcOrd="0" destOrd="0" presId="urn:microsoft.com/office/officeart/2018/2/layout/IconCircleList"/>
    <dgm:cxn modelId="{2E255D9E-E78C-4D81-82B7-052F2DFE402F}" type="presParOf" srcId="{9A59FC2B-EFAA-4D88-A47F-E856D3DE523A}" destId="{73D042CB-006D-49C9-8D26-5E15487B65B7}" srcOrd="1" destOrd="0" presId="urn:microsoft.com/office/officeart/2018/2/layout/IconCircleList"/>
    <dgm:cxn modelId="{DCE09C30-0F4B-4212-A761-DCE013EEF53C}" type="presParOf" srcId="{9A59FC2B-EFAA-4D88-A47F-E856D3DE523A}" destId="{608D0D0A-2452-48CA-99EE-9EED126EEC0D}" srcOrd="2" destOrd="0" presId="urn:microsoft.com/office/officeart/2018/2/layout/IconCircleList"/>
    <dgm:cxn modelId="{0CF35155-E759-4973-9308-C48F3DFDDD64}" type="presParOf" srcId="{9A59FC2B-EFAA-4D88-A47F-E856D3DE523A}" destId="{6DBA419A-FAC3-4FF4-975A-176293EEB90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F78387-337A-4C60-B9DF-4CA2B4D83704}">
      <dsp:nvSpPr>
        <dsp:cNvPr id="0" name=""/>
        <dsp:cNvSpPr/>
      </dsp:nvSpPr>
      <dsp:spPr>
        <a:xfrm>
          <a:off x="0" y="51558"/>
          <a:ext cx="4862446" cy="10448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Łapczyński, M., &amp; Białowąs, S. (2013). "Clickstream Data for Online Shopping." </a:t>
          </a:r>
          <a:r>
            <a:rPr lang="en-US" sz="1900" i="1" kern="1200"/>
            <a:t>Studia Ekonomiczne</a:t>
          </a:r>
          <a:r>
            <a:rPr lang="en-US" sz="1900" kern="1200"/>
            <a:t>. </a:t>
          </a:r>
        </a:p>
      </dsp:txBody>
      <dsp:txXfrm>
        <a:off x="51003" y="102561"/>
        <a:ext cx="4760440" cy="942803"/>
      </dsp:txXfrm>
    </dsp:sp>
    <dsp:sp modelId="{5D294F16-225C-4695-B9CD-8C074D5559EE}">
      <dsp:nvSpPr>
        <dsp:cNvPr id="0" name=""/>
        <dsp:cNvSpPr/>
      </dsp:nvSpPr>
      <dsp:spPr>
        <a:xfrm>
          <a:off x="0" y="1151088"/>
          <a:ext cx="4862446" cy="10448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UCI Machine Learning Repository. (2019). "Clickstream Data for Online Shopping Dataset." </a:t>
          </a:r>
          <a:r>
            <a:rPr lang="en-US" sz="1900" kern="1200">
              <a:hlinkClick xmlns:r="http://schemas.openxmlformats.org/officeDocument/2006/relationships" r:id="rId1"/>
            </a:rPr>
            <a:t>https://doi.org/10.24432/C5QK7X</a:t>
          </a:r>
          <a:r>
            <a:rPr lang="en-US" sz="1900" kern="1200"/>
            <a:t> </a:t>
          </a:r>
        </a:p>
      </dsp:txBody>
      <dsp:txXfrm>
        <a:off x="51003" y="1202091"/>
        <a:ext cx="4760440" cy="942803"/>
      </dsp:txXfrm>
    </dsp:sp>
    <dsp:sp modelId="{CEDD8C8D-D81C-431B-8EEA-1ACEFDCC7E71}">
      <dsp:nvSpPr>
        <dsp:cNvPr id="0" name=""/>
        <dsp:cNvSpPr/>
      </dsp:nvSpPr>
      <dsp:spPr>
        <a:xfrm>
          <a:off x="0" y="2250618"/>
          <a:ext cx="4862446" cy="10448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Hastie, T., Tibshirani, R., &amp; Friedman, J. (2009). </a:t>
          </a:r>
          <a:r>
            <a:rPr lang="en-US" sz="1900" i="1" kern="1200"/>
            <a:t>The Elements of Statistical Learning</a:t>
          </a:r>
          <a:r>
            <a:rPr lang="en-US" sz="1900" kern="1200"/>
            <a:t>. Springer. </a:t>
          </a:r>
        </a:p>
      </dsp:txBody>
      <dsp:txXfrm>
        <a:off x="51003" y="2301621"/>
        <a:ext cx="4760440" cy="942803"/>
      </dsp:txXfrm>
    </dsp:sp>
    <dsp:sp modelId="{96651FAA-D1F5-4404-AE1C-0B382F9E5623}">
      <dsp:nvSpPr>
        <dsp:cNvPr id="0" name=""/>
        <dsp:cNvSpPr/>
      </dsp:nvSpPr>
      <dsp:spPr>
        <a:xfrm>
          <a:off x="0" y="3350148"/>
          <a:ext cx="4862446" cy="10448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Chen, T., &amp; Guestrin, C. (2016). "XGBoost: A Scalable Tree Boosting System." </a:t>
          </a:r>
          <a:r>
            <a:rPr lang="en-US" sz="1900" i="1" kern="1200"/>
            <a:t>KDD '16</a:t>
          </a:r>
          <a:r>
            <a:rPr lang="en-US" sz="1900" kern="1200"/>
            <a:t>. </a:t>
          </a:r>
        </a:p>
      </dsp:txBody>
      <dsp:txXfrm>
        <a:off x="51003" y="3401151"/>
        <a:ext cx="4760440" cy="942803"/>
      </dsp:txXfrm>
    </dsp:sp>
    <dsp:sp modelId="{DEDBC80A-7450-4327-B222-EC08FD3C60DC}">
      <dsp:nvSpPr>
        <dsp:cNvPr id="0" name=""/>
        <dsp:cNvSpPr/>
      </dsp:nvSpPr>
      <dsp:spPr>
        <a:xfrm>
          <a:off x="0" y="4449678"/>
          <a:ext cx="4862446" cy="10448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Breiman, L. (2001). "Random Forests." </a:t>
          </a:r>
          <a:r>
            <a:rPr lang="en-US" sz="1900" i="1" kern="1200"/>
            <a:t>Machine Learning</a:t>
          </a:r>
          <a:r>
            <a:rPr lang="en-US" sz="1900" kern="1200"/>
            <a:t>, 45(1), 5-32. </a:t>
          </a:r>
        </a:p>
      </dsp:txBody>
      <dsp:txXfrm>
        <a:off x="51003" y="4500681"/>
        <a:ext cx="4760440" cy="9428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EB7399-AA44-4E62-B310-9C1C2450B099}">
      <dsp:nvSpPr>
        <dsp:cNvPr id="0" name=""/>
        <dsp:cNvSpPr/>
      </dsp:nvSpPr>
      <dsp:spPr>
        <a:xfrm>
          <a:off x="189082" y="8195"/>
          <a:ext cx="1323913" cy="132391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1B7D28-97F2-48B9-B313-29C6D1E9D305}">
      <dsp:nvSpPr>
        <dsp:cNvPr id="0" name=""/>
        <dsp:cNvSpPr/>
      </dsp:nvSpPr>
      <dsp:spPr>
        <a:xfrm>
          <a:off x="467104" y="286217"/>
          <a:ext cx="767869" cy="7678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1C60D6-1B42-445E-82A8-F5B97E916E02}">
      <dsp:nvSpPr>
        <dsp:cNvPr id="0" name=""/>
        <dsp:cNvSpPr/>
      </dsp:nvSpPr>
      <dsp:spPr>
        <a:xfrm>
          <a:off x="1796691" y="8195"/>
          <a:ext cx="3120653" cy="1323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Successfully developed a predictive analytics framework that achieves 97.9% accuracy (R²) in forecasting e-commerce session revenue using only behavioral clickstream features. The stacking ensemble approach, combining Random Forest and Gradient Boosting with Linear Regression meta-learner, provides robust predictions while avoiding target leakage</a:t>
          </a:r>
        </a:p>
      </dsp:txBody>
      <dsp:txXfrm>
        <a:off x="1796691" y="8195"/>
        <a:ext cx="3120653" cy="1323913"/>
      </dsp:txXfrm>
    </dsp:sp>
    <dsp:sp modelId="{414E1134-CD26-44BE-9D2E-0100BB8EB879}">
      <dsp:nvSpPr>
        <dsp:cNvPr id="0" name=""/>
        <dsp:cNvSpPr/>
      </dsp:nvSpPr>
      <dsp:spPr>
        <a:xfrm>
          <a:off x="5461095" y="8195"/>
          <a:ext cx="1323913" cy="132391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918A72-B4F5-4B7F-A25D-C6E4CF098B34}">
      <dsp:nvSpPr>
        <dsp:cNvPr id="0" name=""/>
        <dsp:cNvSpPr/>
      </dsp:nvSpPr>
      <dsp:spPr>
        <a:xfrm>
          <a:off x="5739116" y="286217"/>
          <a:ext cx="767869" cy="7678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DB269F-B41F-4568-B531-A5AE5A84D22E}">
      <dsp:nvSpPr>
        <dsp:cNvPr id="0" name=""/>
        <dsp:cNvSpPr/>
      </dsp:nvSpPr>
      <dsp:spPr>
        <a:xfrm>
          <a:off x="7068704" y="8195"/>
          <a:ext cx="3120653" cy="1323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Novel User Segmentation:</a:t>
          </a:r>
          <a:r>
            <a:rPr lang="en-US" sz="1100" kern="1200"/>
            <a:t> Identified three distinct behavioral archetypes (Browser, Explorer, Deep Researcher) with 2.6x revenue variation</a:t>
          </a:r>
        </a:p>
      </dsp:txBody>
      <dsp:txXfrm>
        <a:off x="7068704" y="8195"/>
        <a:ext cx="3120653" cy="1323913"/>
      </dsp:txXfrm>
    </dsp:sp>
    <dsp:sp modelId="{8A5BD04C-B395-44E0-960B-82727FDFEA56}">
      <dsp:nvSpPr>
        <dsp:cNvPr id="0" name=""/>
        <dsp:cNvSpPr/>
      </dsp:nvSpPr>
      <dsp:spPr>
        <a:xfrm>
          <a:off x="189082" y="1877792"/>
          <a:ext cx="1323913" cy="132391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10173E-36E7-4424-BA76-DD95E714FB23}">
      <dsp:nvSpPr>
        <dsp:cNvPr id="0" name=""/>
        <dsp:cNvSpPr/>
      </dsp:nvSpPr>
      <dsp:spPr>
        <a:xfrm>
          <a:off x="467104" y="2155814"/>
          <a:ext cx="767869" cy="7678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53E811-1923-4EDA-AD5C-F37D09058E1C}">
      <dsp:nvSpPr>
        <dsp:cNvPr id="0" name=""/>
        <dsp:cNvSpPr/>
      </dsp:nvSpPr>
      <dsp:spPr>
        <a:xfrm>
          <a:off x="1796691" y="1877792"/>
          <a:ext cx="3120653" cy="1323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Efficient Feature Selection</a:t>
          </a:r>
          <a:r>
            <a:rPr lang="en-US" sz="1100" kern="1200"/>
            <a:t>: Reduced 14 raw features to 5 critical engagement metrics without performance loss</a:t>
          </a:r>
        </a:p>
      </dsp:txBody>
      <dsp:txXfrm>
        <a:off x="1796691" y="1877792"/>
        <a:ext cx="3120653" cy="1323913"/>
      </dsp:txXfrm>
    </dsp:sp>
    <dsp:sp modelId="{F8E0DF56-60B9-46EF-8416-9B8CED298EAC}">
      <dsp:nvSpPr>
        <dsp:cNvPr id="0" name=""/>
        <dsp:cNvSpPr/>
      </dsp:nvSpPr>
      <dsp:spPr>
        <a:xfrm>
          <a:off x="5461095" y="1877792"/>
          <a:ext cx="1323913" cy="132391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D042CB-006D-49C9-8D26-5E15487B65B7}">
      <dsp:nvSpPr>
        <dsp:cNvPr id="0" name=""/>
        <dsp:cNvSpPr/>
      </dsp:nvSpPr>
      <dsp:spPr>
        <a:xfrm>
          <a:off x="5739116" y="2155814"/>
          <a:ext cx="767869" cy="7678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BA419A-FAC3-4FF4-975A-176293EEB902}">
      <dsp:nvSpPr>
        <dsp:cNvPr id="0" name=""/>
        <dsp:cNvSpPr/>
      </dsp:nvSpPr>
      <dsp:spPr>
        <a:xfrm>
          <a:off x="7068704" y="1877792"/>
          <a:ext cx="3120653" cy="1323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Production-Ready Model</a:t>
          </a:r>
          <a:r>
            <a:rPr lang="en-US" sz="1100" kern="1200"/>
            <a:t>: Linear Regression achieves best performance (RMSE=46.45) with minimal computational overhead</a:t>
          </a:r>
        </a:p>
      </dsp:txBody>
      <dsp:txXfrm>
        <a:off x="7068704" y="1877792"/>
        <a:ext cx="3120653" cy="132391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2" Type="http://schemas.openxmlformats.org/officeDocument/2006/relationships/hyperlink" Target="https://doi.org/10.24432/C5QK7X"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8320351-9FA2-4A26-885B-BB8F3E490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68CD2EFB-78C2-4C6E-A6B9-4ED12FAD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9" name="Picture 18" descr="3D Hologram from iPad">
            <a:extLst>
              <a:ext uri="{FF2B5EF4-FFF2-40B4-BE49-F238E27FC236}">
                <a16:creationId xmlns:a16="http://schemas.microsoft.com/office/drawing/2014/main" id="{DB5DAC3C-0A4C-0137-4A40-AC75B922855A}"/>
              </a:ext>
            </a:extLst>
          </p:cNvPr>
          <p:cNvPicPr>
            <a:picLocks noChangeAspect="1"/>
          </p:cNvPicPr>
          <p:nvPr/>
        </p:nvPicPr>
        <p:blipFill>
          <a:blip r:embed="rId2">
            <a:alphaModFix amt="60000"/>
          </a:blip>
          <a:srcRect t="4629" r="-2" b="10973"/>
          <a:stretch>
            <a:fillRect/>
          </a:stretch>
        </p:blipFill>
        <p:spPr>
          <a:xfrm>
            <a:off x="-1" y="10"/>
            <a:ext cx="12192001" cy="6857990"/>
          </a:xfrm>
          <a:prstGeom prst="rect">
            <a:avLst/>
          </a:prstGeom>
        </p:spPr>
      </p:pic>
      <p:sp>
        <p:nvSpPr>
          <p:cNvPr id="2" name="Title 1"/>
          <p:cNvSpPr>
            <a:spLocks noGrp="1"/>
          </p:cNvSpPr>
          <p:nvPr>
            <p:ph type="ctrTitle"/>
          </p:nvPr>
        </p:nvSpPr>
        <p:spPr>
          <a:xfrm>
            <a:off x="841248" y="600427"/>
            <a:ext cx="9875520" cy="3299902"/>
          </a:xfrm>
        </p:spPr>
        <p:txBody>
          <a:bodyPr>
            <a:normAutofit/>
          </a:bodyPr>
          <a:lstStyle/>
          <a:p>
            <a:pPr algn="l"/>
            <a:r>
              <a:rPr lang="en-US" sz="5700">
                <a:solidFill>
                  <a:srgbClr val="FFFFFF"/>
                </a:solidFill>
                <a:ea typeface="+mj-lt"/>
                <a:cs typeface="+mj-lt"/>
              </a:rPr>
              <a:t>Decoding E-Commerce Success: Predictive Analytics and User Segmentation in Online Retail Clickstream Data</a:t>
            </a:r>
          </a:p>
        </p:txBody>
      </p:sp>
      <p:sp>
        <p:nvSpPr>
          <p:cNvPr id="3" name="Subtitle 2"/>
          <p:cNvSpPr>
            <a:spLocks noGrp="1"/>
          </p:cNvSpPr>
          <p:nvPr>
            <p:ph type="subTitle" idx="1"/>
          </p:nvPr>
        </p:nvSpPr>
        <p:spPr>
          <a:xfrm>
            <a:off x="859536" y="4072045"/>
            <a:ext cx="9875520" cy="1414355"/>
          </a:xfrm>
        </p:spPr>
        <p:txBody>
          <a:bodyPr vert="horz" lIns="91440" tIns="45720" rIns="91440" bIns="45720" rtlCol="0">
            <a:normAutofit/>
          </a:bodyPr>
          <a:lstStyle/>
          <a:p>
            <a:pPr algn="l"/>
            <a:r>
              <a:rPr lang="en-US" sz="1700">
                <a:solidFill>
                  <a:srgbClr val="FFFFFF"/>
                </a:solidFill>
                <a:ea typeface="+mn-lt"/>
                <a:cs typeface="+mn-lt"/>
              </a:rPr>
              <a:t>TEAM 4 Business Analytics</a:t>
            </a:r>
          </a:p>
          <a:p>
            <a:pPr algn="l"/>
            <a:r>
              <a:rPr lang="en-US" sz="1700">
                <a:solidFill>
                  <a:srgbClr val="FFFFFF"/>
                </a:solidFill>
                <a:ea typeface="+mn-lt"/>
                <a:cs typeface="+mn-lt"/>
              </a:rPr>
              <a:t>BL.EN.U4CSE22201 - A V S S Sampath, </a:t>
            </a:r>
            <a:endParaRPr lang="en-US" sz="1700">
              <a:solidFill>
                <a:srgbClr val="FFFFFF"/>
              </a:solidFill>
            </a:endParaRPr>
          </a:p>
          <a:p>
            <a:pPr algn="l"/>
            <a:r>
              <a:rPr lang="en-US" sz="1700">
                <a:solidFill>
                  <a:srgbClr val="FFFFFF"/>
                </a:solidFill>
                <a:ea typeface="+mn-lt"/>
                <a:cs typeface="+mn-lt"/>
              </a:rPr>
              <a:t>BL.EN.U4CSE22206 - Aniket Kumar, </a:t>
            </a:r>
            <a:endParaRPr lang="en-US" sz="1700">
              <a:solidFill>
                <a:srgbClr val="FFFFFF"/>
              </a:solidFill>
            </a:endParaRPr>
          </a:p>
          <a:p>
            <a:pPr algn="l"/>
            <a:r>
              <a:rPr lang="en-US" sz="1700">
                <a:solidFill>
                  <a:srgbClr val="FFFFFF"/>
                </a:solidFill>
                <a:ea typeface="+mn-lt"/>
                <a:cs typeface="+mn-lt"/>
              </a:rPr>
              <a:t>BL.EN.U4CSE22223 - G Meher Pranav</a:t>
            </a:r>
            <a:endParaRPr lang="en-US" sz="170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36BAE0-6A79-7517-D084-D8A522E5364C}"/>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Problem Statement &amp; Objective</a:t>
            </a:r>
          </a:p>
          <a:p>
            <a:pPr algn="r"/>
            <a:endParaRPr lang="en-US" sz="4000">
              <a:solidFill>
                <a:srgbClr val="FFFFFF"/>
              </a:solidFill>
            </a:endParaRPr>
          </a:p>
        </p:txBody>
      </p:sp>
      <p:sp>
        <p:nvSpPr>
          <p:cNvPr id="3" name="Content Placeholder 2">
            <a:extLst>
              <a:ext uri="{FF2B5EF4-FFF2-40B4-BE49-F238E27FC236}">
                <a16:creationId xmlns:a16="http://schemas.microsoft.com/office/drawing/2014/main" id="{3D5CD31A-041E-8841-06D6-277E5012F07C}"/>
              </a:ext>
            </a:extLst>
          </p:cNvPr>
          <p:cNvSpPr>
            <a:spLocks noGrp="1"/>
          </p:cNvSpPr>
          <p:nvPr>
            <p:ph idx="1"/>
          </p:nvPr>
        </p:nvSpPr>
        <p:spPr>
          <a:xfrm>
            <a:off x="6100387" y="638595"/>
            <a:ext cx="5842161" cy="5600475"/>
          </a:xfrm>
        </p:spPr>
        <p:txBody>
          <a:bodyPr vert="horz" lIns="91440" tIns="45720" rIns="91440" bIns="45720" rtlCol="0" anchor="ctr">
            <a:normAutofit/>
          </a:bodyPr>
          <a:lstStyle/>
          <a:p>
            <a:pPr marL="0" indent="0">
              <a:buNone/>
            </a:pPr>
            <a:r>
              <a:rPr lang="en-US" sz="2000" dirty="0">
                <a:ea typeface="+mn-lt"/>
                <a:cs typeface="+mn-lt"/>
              </a:rPr>
              <a:t>The e-shop dataset contains raw clickstream records for sessions viewing clothing products; the business problem is to convert these low-level click events into understandable patterns that inform product placement, visual merchandising, and conversion improvement. The primary objective of this analysis is to examine session structure and visual exposures (photo location, model pose, </a:t>
            </a:r>
            <a:r>
              <a:rPr lang="en-US" sz="2000" dirty="0" err="1">
                <a:ea typeface="+mn-lt"/>
                <a:cs typeface="+mn-lt"/>
              </a:rPr>
              <a:t>colour</a:t>
            </a:r>
            <a:r>
              <a:rPr lang="en-US" sz="2000" dirty="0">
                <a:ea typeface="+mn-lt"/>
                <a:cs typeface="+mn-lt"/>
              </a:rPr>
              <a:t> and price signals) to discover which on-page exposures and session characteristics most strongly associate with deeper engagement and purchase intent. Secondary objectives include comparing </a:t>
            </a:r>
            <a:r>
              <a:rPr lang="en-US" sz="2000" dirty="0" err="1">
                <a:ea typeface="+mn-lt"/>
                <a:cs typeface="+mn-lt"/>
              </a:rPr>
              <a:t>behaviour</a:t>
            </a:r>
            <a:r>
              <a:rPr lang="en-US" sz="2000" dirty="0">
                <a:ea typeface="+mn-lt"/>
                <a:cs typeface="+mn-lt"/>
              </a:rPr>
              <a:t> across countries and page positions and producing visualization-led insights that are directly actionable for designers and merchandisers.</a:t>
            </a:r>
            <a:endParaRPr lang="en-US" dirty="0">
              <a:ea typeface="+mn-lt"/>
              <a:cs typeface="+mn-lt"/>
            </a:endParaRPr>
          </a:p>
        </p:txBody>
      </p:sp>
    </p:spTree>
    <p:extLst>
      <p:ext uri="{BB962C8B-B14F-4D97-AF65-F5344CB8AC3E}">
        <p14:creationId xmlns:p14="http://schemas.microsoft.com/office/powerpoint/2010/main" val="4095696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6C3DC9-5CF5-A7CC-CE32-FA6B506016A3}"/>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Dataset Description</a:t>
            </a:r>
          </a:p>
          <a:p>
            <a:pPr algn="r"/>
            <a:endParaRPr lang="en-US" sz="4000">
              <a:solidFill>
                <a:srgbClr val="FFFFFF"/>
              </a:solidFill>
            </a:endParaRPr>
          </a:p>
        </p:txBody>
      </p:sp>
      <p:sp>
        <p:nvSpPr>
          <p:cNvPr id="3" name="Content Placeholder 2">
            <a:extLst>
              <a:ext uri="{FF2B5EF4-FFF2-40B4-BE49-F238E27FC236}">
                <a16:creationId xmlns:a16="http://schemas.microsoft.com/office/drawing/2014/main" id="{A15DC044-47B2-E7CA-C18E-573D54A07556}"/>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br>
              <a:rPr lang="en-US" sz="1700" dirty="0">
                <a:ea typeface="+mn-lt"/>
                <a:cs typeface="+mn-lt"/>
              </a:rPr>
            </a:br>
            <a:r>
              <a:rPr lang="en-US" sz="1700" b="1" dirty="0">
                <a:ea typeface="+mn-lt"/>
                <a:cs typeface="+mn-lt"/>
              </a:rPr>
              <a:t>Source: </a:t>
            </a:r>
            <a:r>
              <a:rPr lang="en-US" sz="1700" dirty="0">
                <a:ea typeface="+mn-lt"/>
                <a:cs typeface="+mn-lt"/>
              </a:rPr>
              <a:t>UCI Machine Learning Repository - Clickstream Data for Online Shopping</a:t>
            </a:r>
            <a:br>
              <a:rPr lang="en-US" sz="1700" dirty="0">
                <a:ea typeface="+mn-lt"/>
                <a:cs typeface="+mn-lt"/>
              </a:rPr>
            </a:br>
            <a:r>
              <a:rPr lang="en-US" sz="1700" b="1" dirty="0">
                <a:ea typeface="+mn-lt"/>
                <a:cs typeface="+mn-lt"/>
              </a:rPr>
              <a:t>Domain:</a:t>
            </a:r>
            <a:r>
              <a:rPr lang="en-US" sz="1700" dirty="0">
                <a:ea typeface="+mn-lt"/>
                <a:cs typeface="+mn-lt"/>
              </a:rPr>
              <a:t> E-commerce platform selling maternity clothing</a:t>
            </a:r>
            <a:br>
              <a:rPr lang="en-US" sz="1700" dirty="0">
                <a:ea typeface="+mn-lt"/>
                <a:cs typeface="+mn-lt"/>
              </a:rPr>
            </a:br>
            <a:r>
              <a:rPr lang="en-US" sz="1700" b="1" dirty="0">
                <a:ea typeface="+mn-lt"/>
                <a:cs typeface="+mn-lt"/>
              </a:rPr>
              <a:t>Time Period:</a:t>
            </a:r>
            <a:r>
              <a:rPr lang="en-US" sz="1700" dirty="0">
                <a:ea typeface="+mn-lt"/>
                <a:cs typeface="+mn-lt"/>
              </a:rPr>
              <a:t> Five months (April-August 2008)</a:t>
            </a:r>
            <a:br>
              <a:rPr lang="en-US" sz="1700" dirty="0">
                <a:ea typeface="+mn-lt"/>
                <a:cs typeface="+mn-lt"/>
              </a:rPr>
            </a:br>
            <a:r>
              <a:rPr lang="en-US" sz="1700" b="1" dirty="0">
                <a:ea typeface="+mn-lt"/>
                <a:cs typeface="+mn-lt"/>
              </a:rPr>
              <a:t>Scale: </a:t>
            </a:r>
            <a:r>
              <a:rPr lang="en-US" sz="1700" dirty="0">
                <a:ea typeface="+mn-lt"/>
                <a:cs typeface="+mn-lt"/>
              </a:rPr>
              <a:t>165,474 clickstream records across 24,026 unique sessions</a:t>
            </a:r>
            <a:endParaRPr lang="en-US" sz="1700" dirty="0"/>
          </a:p>
          <a:p>
            <a:pPr marL="0" indent="0">
              <a:buNone/>
            </a:pPr>
            <a:r>
              <a:rPr lang="en-US" sz="1700" b="1">
                <a:ea typeface="+mn-lt"/>
                <a:cs typeface="+mn-lt"/>
              </a:rPr>
              <a:t>Key Variables (14 features):</a:t>
            </a:r>
            <a:endParaRPr lang="en-US" sz="1700" b="1"/>
          </a:p>
          <a:p>
            <a:r>
              <a:rPr lang="en-US" sz="1700" dirty="0">
                <a:ea typeface="+mn-lt"/>
                <a:cs typeface="+mn-lt"/>
              </a:rPr>
              <a:t>Temporal: year, month, day</a:t>
            </a:r>
            <a:endParaRPr lang="en-US" sz="1700" dirty="0"/>
          </a:p>
          <a:p>
            <a:r>
              <a:rPr lang="en-US" sz="1700" dirty="0">
                <a:ea typeface="+mn-lt"/>
                <a:cs typeface="+mn-lt"/>
              </a:rPr>
              <a:t>Behavioral: order (click sequence), session ID, clicks per session, unique pages visited</a:t>
            </a:r>
            <a:endParaRPr lang="en-US" sz="1700" dirty="0"/>
          </a:p>
          <a:p>
            <a:r>
              <a:rPr lang="en-US" sz="1700" dirty="0">
                <a:ea typeface="+mn-lt"/>
                <a:cs typeface="+mn-lt"/>
              </a:rPr>
              <a:t>Geographic: country (IP origin)</a:t>
            </a:r>
            <a:endParaRPr lang="en-US" sz="1700" dirty="0"/>
          </a:p>
          <a:p>
            <a:r>
              <a:rPr lang="en-US" sz="1700" dirty="0">
                <a:ea typeface="+mn-lt"/>
                <a:cs typeface="+mn-lt"/>
              </a:rPr>
              <a:t>Product: page 1 (main category), page 2 (clothing model), </a:t>
            </a:r>
            <a:r>
              <a:rPr lang="en-US" sz="1700" dirty="0" err="1">
                <a:ea typeface="+mn-lt"/>
                <a:cs typeface="+mn-lt"/>
              </a:rPr>
              <a:t>colour</a:t>
            </a:r>
            <a:endParaRPr lang="en-US" sz="1700" dirty="0" err="1"/>
          </a:p>
          <a:p>
            <a:r>
              <a:rPr lang="en-US" sz="1700" dirty="0">
                <a:ea typeface="+mn-lt"/>
                <a:cs typeface="+mn-lt"/>
              </a:rPr>
              <a:t>Layout: location (6 screen positions)</a:t>
            </a:r>
            <a:endParaRPr lang="en-US" sz="1700" dirty="0"/>
          </a:p>
          <a:p>
            <a:r>
              <a:rPr lang="en-US" sz="1700" dirty="0">
                <a:ea typeface="+mn-lt"/>
                <a:cs typeface="+mn-lt"/>
              </a:rPr>
              <a:t>Transaction: price data</a:t>
            </a:r>
            <a:endParaRPr lang="en-US" sz="1700" dirty="0"/>
          </a:p>
          <a:p>
            <a:pPr marL="0" indent="0">
              <a:buNone/>
            </a:pPr>
            <a:r>
              <a:rPr lang="en-US" sz="1700" b="1" dirty="0">
                <a:ea typeface="+mn-lt"/>
                <a:cs typeface="+mn-lt"/>
              </a:rPr>
              <a:t>Why This Dataset</a:t>
            </a:r>
            <a:r>
              <a:rPr lang="en-US" sz="1700" dirty="0">
                <a:ea typeface="+mn-lt"/>
                <a:cs typeface="+mn-lt"/>
              </a:rPr>
              <a:t>: Real-world e-commerce data with rich behavioral signals, enabling both classification and regression tasks for revenue prediction and user segmentation analysis.</a:t>
            </a:r>
            <a:endParaRPr lang="en-US" sz="1700" dirty="0"/>
          </a:p>
          <a:p>
            <a:endParaRPr lang="en-US" sz="1700"/>
          </a:p>
        </p:txBody>
      </p:sp>
    </p:spTree>
    <p:extLst>
      <p:ext uri="{BB962C8B-B14F-4D97-AF65-F5344CB8AC3E}">
        <p14:creationId xmlns:p14="http://schemas.microsoft.com/office/powerpoint/2010/main" val="2120439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EB93BB-DBA4-B121-F94E-C2E03D44C72C}"/>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 Data Preprocessing &amp; Exploration</a:t>
            </a:r>
          </a:p>
          <a:p>
            <a:endParaRPr lang="en-US" sz="4000">
              <a:solidFill>
                <a:srgbClr val="FFFFFF"/>
              </a:solidFill>
            </a:endParaRPr>
          </a:p>
        </p:txBody>
      </p:sp>
      <p:graphicFrame>
        <p:nvGraphicFramePr>
          <p:cNvPr id="38" name="Content Placeholder 37">
            <a:extLst>
              <a:ext uri="{FF2B5EF4-FFF2-40B4-BE49-F238E27FC236}">
                <a16:creationId xmlns:a16="http://schemas.microsoft.com/office/drawing/2014/main" id="{C4125E71-0F23-14AD-E684-4EAC99C34A7D}"/>
              </a:ext>
            </a:extLst>
          </p:cNvPr>
          <p:cNvGraphicFramePr>
            <a:graphicFrameLocks noGrp="1"/>
          </p:cNvGraphicFramePr>
          <p:nvPr>
            <p:ph idx="1"/>
            <p:extLst>
              <p:ext uri="{D42A27DB-BD31-4B8C-83A1-F6EECF244321}">
                <p14:modId xmlns:p14="http://schemas.microsoft.com/office/powerpoint/2010/main" val="3854329212"/>
              </p:ext>
            </p:extLst>
          </p:nvPr>
        </p:nvGraphicFramePr>
        <p:xfrm>
          <a:off x="979714" y="2111828"/>
          <a:ext cx="10367605" cy="4192815"/>
        </p:xfrm>
        <a:graphic>
          <a:graphicData uri="http://schemas.openxmlformats.org/drawingml/2006/table">
            <a:tbl>
              <a:tblPr bandRow="1">
                <a:tableStyleId>{5C22544A-7EE6-4342-B048-85BDC9FD1C3A}</a:tableStyleId>
              </a:tblPr>
              <a:tblGrid>
                <a:gridCol w="4816928">
                  <a:extLst>
                    <a:ext uri="{9D8B030D-6E8A-4147-A177-3AD203B41FA5}">
                      <a16:colId xmlns:a16="http://schemas.microsoft.com/office/drawing/2014/main" val="977348746"/>
                    </a:ext>
                  </a:extLst>
                </a:gridCol>
                <a:gridCol w="5550677">
                  <a:extLst>
                    <a:ext uri="{9D8B030D-6E8A-4147-A177-3AD203B41FA5}">
                      <a16:colId xmlns:a16="http://schemas.microsoft.com/office/drawing/2014/main" val="1157741262"/>
                    </a:ext>
                  </a:extLst>
                </a:gridCol>
              </a:tblGrid>
              <a:tr h="279521">
                <a:tc>
                  <a:txBody>
                    <a:bodyPr/>
                    <a:lstStyle/>
                    <a:p>
                      <a:pPr>
                        <a:buNone/>
                      </a:pPr>
                      <a:r>
                        <a:rPr lang="en-US" sz="1300" b="1"/>
                        <a:t>Attribute / Column Name</a:t>
                      </a:r>
                      <a:endParaRPr lang="en-US" sz="1300"/>
                    </a:p>
                  </a:txBody>
                  <a:tcPr marL="63527" marR="63527" marT="31764" marB="31764" anchor="ctr">
                    <a:lnL>
                      <a:noFill/>
                    </a:lnL>
                    <a:lnR>
                      <a:noFill/>
                    </a:lnR>
                    <a:lnT>
                      <a:noFill/>
                    </a:lnT>
                    <a:lnB>
                      <a:noFill/>
                    </a:lnB>
                    <a:noFill/>
                  </a:tcPr>
                </a:tc>
                <a:tc>
                  <a:txBody>
                    <a:bodyPr/>
                    <a:lstStyle/>
                    <a:p>
                      <a:pPr>
                        <a:buNone/>
                      </a:pPr>
                      <a:r>
                        <a:rPr lang="en-US" sz="1300" b="1"/>
                        <a:t>Meaning / Description</a:t>
                      </a:r>
                      <a:endParaRPr lang="en-US" sz="1300"/>
                    </a:p>
                  </a:txBody>
                  <a:tcPr marL="63527" marR="63527" marT="31764" marB="31764" anchor="ctr">
                    <a:lnL>
                      <a:noFill/>
                    </a:lnL>
                    <a:lnR>
                      <a:noFill/>
                    </a:lnR>
                    <a:lnT>
                      <a:noFill/>
                    </a:lnT>
                    <a:lnB>
                      <a:noFill/>
                    </a:lnB>
                    <a:noFill/>
                  </a:tcPr>
                </a:tc>
                <a:extLst>
                  <a:ext uri="{0D108BD9-81ED-4DB2-BD59-A6C34878D82A}">
                    <a16:rowId xmlns:a16="http://schemas.microsoft.com/office/drawing/2014/main" val="612970221"/>
                  </a:ext>
                </a:extLst>
              </a:tr>
              <a:tr h="279521">
                <a:tc>
                  <a:txBody>
                    <a:bodyPr/>
                    <a:lstStyle/>
                    <a:p>
                      <a:pPr>
                        <a:buNone/>
                      </a:pPr>
                      <a:r>
                        <a:rPr lang="en-US" sz="1300"/>
                        <a:t>YEAR</a:t>
                      </a:r>
                    </a:p>
                  </a:txBody>
                  <a:tcPr marL="63527" marR="63527" marT="31764" marB="31764" anchor="ctr">
                    <a:lnL>
                      <a:noFill/>
                    </a:lnL>
                    <a:lnR>
                      <a:noFill/>
                    </a:lnR>
                    <a:lnT>
                      <a:noFill/>
                    </a:lnT>
                    <a:lnB>
                      <a:noFill/>
                    </a:lnB>
                    <a:noFill/>
                  </a:tcPr>
                </a:tc>
                <a:tc>
                  <a:txBody>
                    <a:bodyPr/>
                    <a:lstStyle/>
                    <a:p>
                      <a:pPr>
                        <a:buNone/>
                      </a:pPr>
                      <a:r>
                        <a:rPr lang="en-US" sz="1300"/>
                        <a:t>Year of the click event (all from 2008)</a:t>
                      </a:r>
                    </a:p>
                  </a:txBody>
                  <a:tcPr marL="63527" marR="63527" marT="31764" marB="31764" anchor="ctr">
                    <a:lnL>
                      <a:noFill/>
                    </a:lnL>
                    <a:lnR>
                      <a:noFill/>
                    </a:lnR>
                    <a:lnT>
                      <a:noFill/>
                    </a:lnT>
                    <a:lnB>
                      <a:noFill/>
                    </a:lnB>
                    <a:noFill/>
                  </a:tcPr>
                </a:tc>
                <a:extLst>
                  <a:ext uri="{0D108BD9-81ED-4DB2-BD59-A6C34878D82A}">
                    <a16:rowId xmlns:a16="http://schemas.microsoft.com/office/drawing/2014/main" val="1486539386"/>
                  </a:ext>
                </a:extLst>
              </a:tr>
              <a:tr h="279521">
                <a:tc>
                  <a:txBody>
                    <a:bodyPr/>
                    <a:lstStyle/>
                    <a:p>
                      <a:pPr>
                        <a:buNone/>
                      </a:pPr>
                      <a:r>
                        <a:rPr lang="en-US" sz="1300"/>
                        <a:t>MONTH</a:t>
                      </a:r>
                    </a:p>
                  </a:txBody>
                  <a:tcPr marL="63527" marR="63527" marT="31764" marB="31764" anchor="ctr">
                    <a:lnL>
                      <a:noFill/>
                    </a:lnL>
                    <a:lnR>
                      <a:noFill/>
                    </a:lnR>
                    <a:lnT>
                      <a:noFill/>
                    </a:lnT>
                    <a:lnB>
                      <a:noFill/>
                    </a:lnB>
                    <a:noFill/>
                  </a:tcPr>
                </a:tc>
                <a:tc>
                  <a:txBody>
                    <a:bodyPr/>
                    <a:lstStyle/>
                    <a:p>
                      <a:pPr>
                        <a:buNone/>
                      </a:pPr>
                      <a:r>
                        <a:rPr lang="en-US" sz="1300"/>
                        <a:t>Month of the click event (April–August)</a:t>
                      </a:r>
                    </a:p>
                  </a:txBody>
                  <a:tcPr marL="63527" marR="63527" marT="31764" marB="31764" anchor="ctr">
                    <a:lnL>
                      <a:noFill/>
                    </a:lnL>
                    <a:lnR>
                      <a:noFill/>
                    </a:lnR>
                    <a:lnT>
                      <a:noFill/>
                    </a:lnT>
                    <a:lnB>
                      <a:noFill/>
                    </a:lnB>
                    <a:noFill/>
                  </a:tcPr>
                </a:tc>
                <a:extLst>
                  <a:ext uri="{0D108BD9-81ED-4DB2-BD59-A6C34878D82A}">
                    <a16:rowId xmlns:a16="http://schemas.microsoft.com/office/drawing/2014/main" val="2279332617"/>
                  </a:ext>
                </a:extLst>
              </a:tr>
              <a:tr h="279521">
                <a:tc>
                  <a:txBody>
                    <a:bodyPr/>
                    <a:lstStyle/>
                    <a:p>
                      <a:pPr>
                        <a:buNone/>
                      </a:pPr>
                      <a:r>
                        <a:rPr lang="en-US" sz="1300"/>
                        <a:t>DAY</a:t>
                      </a:r>
                    </a:p>
                  </a:txBody>
                  <a:tcPr marL="63527" marR="63527" marT="31764" marB="31764" anchor="ctr">
                    <a:lnL>
                      <a:noFill/>
                    </a:lnL>
                    <a:lnR>
                      <a:noFill/>
                    </a:lnR>
                    <a:lnT>
                      <a:noFill/>
                    </a:lnT>
                    <a:lnB>
                      <a:noFill/>
                    </a:lnB>
                    <a:noFill/>
                  </a:tcPr>
                </a:tc>
                <a:tc>
                  <a:txBody>
                    <a:bodyPr/>
                    <a:lstStyle/>
                    <a:p>
                      <a:pPr>
                        <a:buNone/>
                      </a:pPr>
                      <a:r>
                        <a:rPr lang="en-US" sz="1300"/>
                        <a:t>Day of the click event</a:t>
                      </a:r>
                    </a:p>
                  </a:txBody>
                  <a:tcPr marL="63527" marR="63527" marT="31764" marB="31764" anchor="ctr">
                    <a:lnL>
                      <a:noFill/>
                    </a:lnL>
                    <a:lnR>
                      <a:noFill/>
                    </a:lnR>
                    <a:lnT>
                      <a:noFill/>
                    </a:lnT>
                    <a:lnB>
                      <a:noFill/>
                    </a:lnB>
                    <a:noFill/>
                  </a:tcPr>
                </a:tc>
                <a:extLst>
                  <a:ext uri="{0D108BD9-81ED-4DB2-BD59-A6C34878D82A}">
                    <a16:rowId xmlns:a16="http://schemas.microsoft.com/office/drawing/2014/main" val="1858403193"/>
                  </a:ext>
                </a:extLst>
              </a:tr>
              <a:tr h="279521">
                <a:tc>
                  <a:txBody>
                    <a:bodyPr/>
                    <a:lstStyle/>
                    <a:p>
                      <a:pPr>
                        <a:buNone/>
                      </a:pPr>
                      <a:r>
                        <a:rPr lang="en-US" sz="1300"/>
                        <a:t>SESSION ID</a:t>
                      </a:r>
                    </a:p>
                  </a:txBody>
                  <a:tcPr marL="63527" marR="63527" marT="31764" marB="31764" anchor="ctr">
                    <a:lnL>
                      <a:noFill/>
                    </a:lnL>
                    <a:lnR>
                      <a:noFill/>
                    </a:lnR>
                    <a:lnT>
                      <a:noFill/>
                    </a:lnT>
                    <a:lnB>
                      <a:noFill/>
                    </a:lnB>
                    <a:noFill/>
                  </a:tcPr>
                </a:tc>
                <a:tc>
                  <a:txBody>
                    <a:bodyPr/>
                    <a:lstStyle/>
                    <a:p>
                      <a:pPr>
                        <a:buNone/>
                      </a:pPr>
                      <a:r>
                        <a:rPr lang="en-US" sz="1300"/>
                        <a:t>Unique session identifier for each browsing session</a:t>
                      </a:r>
                    </a:p>
                  </a:txBody>
                  <a:tcPr marL="63527" marR="63527" marT="31764" marB="31764" anchor="ctr">
                    <a:lnL>
                      <a:noFill/>
                    </a:lnL>
                    <a:lnR>
                      <a:noFill/>
                    </a:lnR>
                    <a:lnT>
                      <a:noFill/>
                    </a:lnT>
                    <a:lnB>
                      <a:noFill/>
                    </a:lnB>
                    <a:noFill/>
                  </a:tcPr>
                </a:tc>
                <a:extLst>
                  <a:ext uri="{0D108BD9-81ED-4DB2-BD59-A6C34878D82A}">
                    <a16:rowId xmlns:a16="http://schemas.microsoft.com/office/drawing/2014/main" val="2413692856"/>
                  </a:ext>
                </a:extLst>
              </a:tr>
              <a:tr h="279521">
                <a:tc>
                  <a:txBody>
                    <a:bodyPr/>
                    <a:lstStyle/>
                    <a:p>
                      <a:pPr>
                        <a:buNone/>
                      </a:pPr>
                      <a:r>
                        <a:rPr lang="en-US" sz="1300"/>
                        <a:t>ORDER</a:t>
                      </a:r>
                    </a:p>
                  </a:txBody>
                  <a:tcPr marL="63527" marR="63527" marT="31764" marB="31764" anchor="ctr">
                    <a:lnL>
                      <a:noFill/>
                    </a:lnL>
                    <a:lnR>
                      <a:noFill/>
                    </a:lnR>
                    <a:lnT>
                      <a:noFill/>
                    </a:lnT>
                    <a:lnB>
                      <a:noFill/>
                    </a:lnB>
                    <a:noFill/>
                  </a:tcPr>
                </a:tc>
                <a:tc>
                  <a:txBody>
                    <a:bodyPr/>
                    <a:lstStyle/>
                    <a:p>
                      <a:pPr>
                        <a:buNone/>
                      </a:pPr>
                      <a:r>
                        <a:rPr lang="en-US" sz="1300"/>
                        <a:t>Position of the click within the session (1st click, 2nd click, etc.)</a:t>
                      </a:r>
                    </a:p>
                  </a:txBody>
                  <a:tcPr marL="63527" marR="63527" marT="31764" marB="31764" anchor="ctr">
                    <a:lnL>
                      <a:noFill/>
                    </a:lnL>
                    <a:lnR>
                      <a:noFill/>
                    </a:lnR>
                    <a:lnT>
                      <a:noFill/>
                    </a:lnT>
                    <a:lnB>
                      <a:noFill/>
                    </a:lnB>
                    <a:noFill/>
                  </a:tcPr>
                </a:tc>
                <a:extLst>
                  <a:ext uri="{0D108BD9-81ED-4DB2-BD59-A6C34878D82A}">
                    <a16:rowId xmlns:a16="http://schemas.microsoft.com/office/drawing/2014/main" val="1048965299"/>
                  </a:ext>
                </a:extLst>
              </a:tr>
              <a:tr h="279521">
                <a:tc>
                  <a:txBody>
                    <a:bodyPr/>
                    <a:lstStyle/>
                    <a:p>
                      <a:pPr>
                        <a:buNone/>
                      </a:pPr>
                      <a:r>
                        <a:rPr lang="en-US" sz="1300"/>
                        <a:t>COUNTRY</a:t>
                      </a:r>
                    </a:p>
                  </a:txBody>
                  <a:tcPr marL="63527" marR="63527" marT="31764" marB="31764" anchor="ctr">
                    <a:lnL>
                      <a:noFill/>
                    </a:lnL>
                    <a:lnR>
                      <a:noFill/>
                    </a:lnR>
                    <a:lnT>
                      <a:noFill/>
                    </a:lnT>
                    <a:lnB>
                      <a:noFill/>
                    </a:lnB>
                    <a:noFill/>
                  </a:tcPr>
                </a:tc>
                <a:tc>
                  <a:txBody>
                    <a:bodyPr/>
                    <a:lstStyle/>
                    <a:p>
                      <a:pPr>
                        <a:buNone/>
                      </a:pPr>
                      <a:r>
                        <a:rPr lang="en-US" sz="1300"/>
                        <a:t>Country code of the user (categorical)</a:t>
                      </a:r>
                    </a:p>
                  </a:txBody>
                  <a:tcPr marL="63527" marR="63527" marT="31764" marB="31764" anchor="ctr">
                    <a:lnL>
                      <a:noFill/>
                    </a:lnL>
                    <a:lnR>
                      <a:noFill/>
                    </a:lnR>
                    <a:lnT>
                      <a:noFill/>
                    </a:lnT>
                    <a:lnB>
                      <a:noFill/>
                    </a:lnB>
                    <a:noFill/>
                  </a:tcPr>
                </a:tc>
                <a:extLst>
                  <a:ext uri="{0D108BD9-81ED-4DB2-BD59-A6C34878D82A}">
                    <a16:rowId xmlns:a16="http://schemas.microsoft.com/office/drawing/2014/main" val="335532586"/>
                  </a:ext>
                </a:extLst>
              </a:tr>
              <a:tr h="279521">
                <a:tc>
                  <a:txBody>
                    <a:bodyPr/>
                    <a:lstStyle/>
                    <a:p>
                      <a:pPr>
                        <a:buNone/>
                      </a:pPr>
                      <a:r>
                        <a:rPr lang="en-US" sz="1300"/>
                        <a:t>PAGE</a:t>
                      </a:r>
                    </a:p>
                  </a:txBody>
                  <a:tcPr marL="63527" marR="63527" marT="31764" marB="31764" anchor="ctr">
                    <a:lnL>
                      <a:noFill/>
                    </a:lnL>
                    <a:lnR>
                      <a:noFill/>
                    </a:lnR>
                    <a:lnT>
                      <a:noFill/>
                    </a:lnT>
                    <a:lnB>
                      <a:noFill/>
                    </a:lnB>
                    <a:noFill/>
                  </a:tcPr>
                </a:tc>
                <a:tc>
                  <a:txBody>
                    <a:bodyPr/>
                    <a:lstStyle/>
                    <a:p>
                      <a:pPr>
                        <a:buNone/>
                      </a:pPr>
                      <a:r>
                        <a:rPr lang="en-US" sz="1300"/>
                        <a:t>Page number the user is currently on</a:t>
                      </a:r>
                    </a:p>
                  </a:txBody>
                  <a:tcPr marL="63527" marR="63527" marT="31764" marB="31764" anchor="ctr">
                    <a:lnL>
                      <a:noFill/>
                    </a:lnL>
                    <a:lnR>
                      <a:noFill/>
                    </a:lnR>
                    <a:lnT>
                      <a:noFill/>
                    </a:lnT>
                    <a:lnB>
                      <a:noFill/>
                    </a:lnB>
                    <a:noFill/>
                  </a:tcPr>
                </a:tc>
                <a:extLst>
                  <a:ext uri="{0D108BD9-81ED-4DB2-BD59-A6C34878D82A}">
                    <a16:rowId xmlns:a16="http://schemas.microsoft.com/office/drawing/2014/main" val="4250804157"/>
                  </a:ext>
                </a:extLst>
              </a:tr>
              <a:tr h="279521">
                <a:tc>
                  <a:txBody>
                    <a:bodyPr/>
                    <a:lstStyle/>
                    <a:p>
                      <a:pPr>
                        <a:buNone/>
                      </a:pPr>
                      <a:r>
                        <a:rPr lang="en-US" sz="1300"/>
                        <a:t>PAGE 1</a:t>
                      </a:r>
                    </a:p>
                  </a:txBody>
                  <a:tcPr marL="63527" marR="63527" marT="31764" marB="31764" anchor="ctr">
                    <a:lnL>
                      <a:noFill/>
                    </a:lnL>
                    <a:lnR>
                      <a:noFill/>
                    </a:lnR>
                    <a:lnT>
                      <a:noFill/>
                    </a:lnT>
                    <a:lnB>
                      <a:noFill/>
                    </a:lnB>
                    <a:noFill/>
                  </a:tcPr>
                </a:tc>
                <a:tc>
                  <a:txBody>
                    <a:bodyPr/>
                    <a:lstStyle/>
                    <a:p>
                      <a:pPr>
                        <a:buNone/>
                      </a:pPr>
                      <a:r>
                        <a:rPr lang="en-US" sz="1300"/>
                        <a:t>Main product category (e.g., trousers, skirts, blouses, sale)</a:t>
                      </a:r>
                    </a:p>
                  </a:txBody>
                  <a:tcPr marL="63527" marR="63527" marT="31764" marB="31764" anchor="ctr">
                    <a:lnL>
                      <a:noFill/>
                    </a:lnL>
                    <a:lnR>
                      <a:noFill/>
                    </a:lnR>
                    <a:lnT>
                      <a:noFill/>
                    </a:lnT>
                    <a:lnB>
                      <a:noFill/>
                    </a:lnB>
                    <a:noFill/>
                  </a:tcPr>
                </a:tc>
                <a:extLst>
                  <a:ext uri="{0D108BD9-81ED-4DB2-BD59-A6C34878D82A}">
                    <a16:rowId xmlns:a16="http://schemas.microsoft.com/office/drawing/2014/main" val="3137452342"/>
                  </a:ext>
                </a:extLst>
              </a:tr>
              <a:tr h="279521">
                <a:tc>
                  <a:txBody>
                    <a:bodyPr/>
                    <a:lstStyle/>
                    <a:p>
                      <a:pPr>
                        <a:buNone/>
                      </a:pPr>
                      <a:r>
                        <a:rPr lang="en-US" sz="1300"/>
                        <a:t>PAGE 2</a:t>
                      </a:r>
                    </a:p>
                  </a:txBody>
                  <a:tcPr marL="63527" marR="63527" marT="31764" marB="31764" anchor="ctr">
                    <a:lnL>
                      <a:noFill/>
                    </a:lnL>
                    <a:lnR>
                      <a:noFill/>
                    </a:lnR>
                    <a:lnT>
                      <a:noFill/>
                    </a:lnT>
                    <a:lnB>
                      <a:noFill/>
                    </a:lnB>
                    <a:noFill/>
                  </a:tcPr>
                </a:tc>
                <a:tc>
                  <a:txBody>
                    <a:bodyPr/>
                    <a:lstStyle/>
                    <a:p>
                      <a:pPr>
                        <a:buNone/>
                      </a:pPr>
                      <a:r>
                        <a:rPr lang="en-US" sz="1300"/>
                        <a:t>Internal product identifier (numeric code)</a:t>
                      </a:r>
                    </a:p>
                  </a:txBody>
                  <a:tcPr marL="63527" marR="63527" marT="31764" marB="31764" anchor="ctr">
                    <a:lnL>
                      <a:noFill/>
                    </a:lnL>
                    <a:lnR>
                      <a:noFill/>
                    </a:lnR>
                    <a:lnT>
                      <a:noFill/>
                    </a:lnT>
                    <a:lnB>
                      <a:noFill/>
                    </a:lnB>
                    <a:noFill/>
                  </a:tcPr>
                </a:tc>
                <a:extLst>
                  <a:ext uri="{0D108BD9-81ED-4DB2-BD59-A6C34878D82A}">
                    <a16:rowId xmlns:a16="http://schemas.microsoft.com/office/drawing/2014/main" val="1398897039"/>
                  </a:ext>
                </a:extLst>
              </a:tr>
              <a:tr h="279521">
                <a:tc>
                  <a:txBody>
                    <a:bodyPr/>
                    <a:lstStyle/>
                    <a:p>
                      <a:pPr>
                        <a:buNone/>
                      </a:pPr>
                      <a:r>
                        <a:rPr lang="en-US" sz="1300"/>
                        <a:t>COLOUR</a:t>
                      </a:r>
                    </a:p>
                  </a:txBody>
                  <a:tcPr marL="63527" marR="63527" marT="31764" marB="31764" anchor="ctr">
                    <a:lnL>
                      <a:noFill/>
                    </a:lnL>
                    <a:lnR>
                      <a:noFill/>
                    </a:lnR>
                    <a:lnT>
                      <a:noFill/>
                    </a:lnT>
                    <a:lnB>
                      <a:noFill/>
                    </a:lnB>
                    <a:noFill/>
                  </a:tcPr>
                </a:tc>
                <a:tc>
                  <a:txBody>
                    <a:bodyPr/>
                    <a:lstStyle/>
                    <a:p>
                      <a:pPr>
                        <a:buNone/>
                      </a:pPr>
                      <a:r>
                        <a:rPr lang="en-US" sz="1300"/>
                        <a:t>Colour code of the product image shown</a:t>
                      </a:r>
                    </a:p>
                  </a:txBody>
                  <a:tcPr marL="63527" marR="63527" marT="31764" marB="31764" anchor="ctr">
                    <a:lnL>
                      <a:noFill/>
                    </a:lnL>
                    <a:lnR>
                      <a:noFill/>
                    </a:lnR>
                    <a:lnT>
                      <a:noFill/>
                    </a:lnT>
                    <a:lnB>
                      <a:noFill/>
                    </a:lnB>
                    <a:noFill/>
                  </a:tcPr>
                </a:tc>
                <a:extLst>
                  <a:ext uri="{0D108BD9-81ED-4DB2-BD59-A6C34878D82A}">
                    <a16:rowId xmlns:a16="http://schemas.microsoft.com/office/drawing/2014/main" val="4136119503"/>
                  </a:ext>
                </a:extLst>
              </a:tr>
              <a:tr h="279521">
                <a:tc>
                  <a:txBody>
                    <a:bodyPr/>
                    <a:lstStyle/>
                    <a:p>
                      <a:pPr>
                        <a:buNone/>
                      </a:pPr>
                      <a:r>
                        <a:rPr lang="en-US" sz="1300"/>
                        <a:t>MODEL PHOTOGRAPHY</a:t>
                      </a:r>
                    </a:p>
                  </a:txBody>
                  <a:tcPr marL="63527" marR="63527" marT="31764" marB="31764" anchor="ctr">
                    <a:lnL>
                      <a:noFill/>
                    </a:lnL>
                    <a:lnR>
                      <a:noFill/>
                    </a:lnR>
                    <a:lnT>
                      <a:noFill/>
                    </a:lnT>
                    <a:lnB>
                      <a:noFill/>
                    </a:lnB>
                    <a:noFill/>
                  </a:tcPr>
                </a:tc>
                <a:tc>
                  <a:txBody>
                    <a:bodyPr/>
                    <a:lstStyle/>
                    <a:p>
                      <a:pPr>
                        <a:buNone/>
                      </a:pPr>
                      <a:r>
                        <a:rPr lang="en-US" sz="1300"/>
                        <a:t>Shows model pose (en-face or profile)</a:t>
                      </a:r>
                    </a:p>
                  </a:txBody>
                  <a:tcPr marL="63527" marR="63527" marT="31764" marB="31764" anchor="ctr">
                    <a:lnL>
                      <a:noFill/>
                    </a:lnL>
                    <a:lnR>
                      <a:noFill/>
                    </a:lnR>
                    <a:lnT>
                      <a:noFill/>
                    </a:lnT>
                    <a:lnB>
                      <a:noFill/>
                    </a:lnB>
                    <a:noFill/>
                  </a:tcPr>
                </a:tc>
                <a:extLst>
                  <a:ext uri="{0D108BD9-81ED-4DB2-BD59-A6C34878D82A}">
                    <a16:rowId xmlns:a16="http://schemas.microsoft.com/office/drawing/2014/main" val="1356918177"/>
                  </a:ext>
                </a:extLst>
              </a:tr>
              <a:tr h="279521">
                <a:tc>
                  <a:txBody>
                    <a:bodyPr/>
                    <a:lstStyle/>
                    <a:p>
                      <a:pPr>
                        <a:buNone/>
                      </a:pPr>
                      <a:r>
                        <a:rPr lang="en-US" sz="1300"/>
                        <a:t>LOCATION</a:t>
                      </a:r>
                    </a:p>
                  </a:txBody>
                  <a:tcPr marL="63527" marR="63527" marT="31764" marB="31764" anchor="ctr">
                    <a:lnL>
                      <a:noFill/>
                    </a:lnL>
                    <a:lnR>
                      <a:noFill/>
                    </a:lnR>
                    <a:lnT>
                      <a:noFill/>
                    </a:lnT>
                    <a:lnB>
                      <a:noFill/>
                    </a:lnB>
                    <a:noFill/>
                  </a:tcPr>
                </a:tc>
                <a:tc>
                  <a:txBody>
                    <a:bodyPr/>
                    <a:lstStyle/>
                    <a:p>
                      <a:pPr>
                        <a:buNone/>
                      </a:pPr>
                      <a:r>
                        <a:rPr lang="en-US" sz="1300"/>
                        <a:t>Location of the product image on the webpage (top-left, top-right, etc.)</a:t>
                      </a:r>
                    </a:p>
                  </a:txBody>
                  <a:tcPr marL="63527" marR="63527" marT="31764" marB="31764" anchor="ctr">
                    <a:lnL>
                      <a:noFill/>
                    </a:lnL>
                    <a:lnR>
                      <a:noFill/>
                    </a:lnR>
                    <a:lnT>
                      <a:noFill/>
                    </a:lnT>
                    <a:lnB>
                      <a:noFill/>
                    </a:lnB>
                    <a:noFill/>
                  </a:tcPr>
                </a:tc>
                <a:extLst>
                  <a:ext uri="{0D108BD9-81ED-4DB2-BD59-A6C34878D82A}">
                    <a16:rowId xmlns:a16="http://schemas.microsoft.com/office/drawing/2014/main" val="3922622147"/>
                  </a:ext>
                </a:extLst>
              </a:tr>
              <a:tr h="279521">
                <a:tc>
                  <a:txBody>
                    <a:bodyPr/>
                    <a:lstStyle/>
                    <a:p>
                      <a:pPr>
                        <a:buNone/>
                      </a:pPr>
                      <a:r>
                        <a:rPr lang="en-US" sz="1300"/>
                        <a:t>PRICE</a:t>
                      </a:r>
                    </a:p>
                  </a:txBody>
                  <a:tcPr marL="63527" marR="63527" marT="31764" marB="31764" anchor="ctr">
                    <a:lnL>
                      <a:noFill/>
                    </a:lnL>
                    <a:lnR>
                      <a:noFill/>
                    </a:lnR>
                    <a:lnT>
                      <a:noFill/>
                    </a:lnT>
                    <a:lnB>
                      <a:noFill/>
                    </a:lnB>
                    <a:noFill/>
                  </a:tcPr>
                </a:tc>
                <a:tc>
                  <a:txBody>
                    <a:bodyPr/>
                    <a:lstStyle/>
                    <a:p>
                      <a:pPr>
                        <a:buNone/>
                      </a:pPr>
                      <a:r>
                        <a:rPr lang="en-US" sz="1300"/>
                        <a:t>Product price shown to the user</a:t>
                      </a:r>
                    </a:p>
                  </a:txBody>
                  <a:tcPr marL="63527" marR="63527" marT="31764" marB="31764" anchor="ctr">
                    <a:lnL>
                      <a:noFill/>
                    </a:lnL>
                    <a:lnR>
                      <a:noFill/>
                    </a:lnR>
                    <a:lnT>
                      <a:noFill/>
                    </a:lnT>
                    <a:lnB>
                      <a:noFill/>
                    </a:lnB>
                    <a:noFill/>
                  </a:tcPr>
                </a:tc>
                <a:extLst>
                  <a:ext uri="{0D108BD9-81ED-4DB2-BD59-A6C34878D82A}">
                    <a16:rowId xmlns:a16="http://schemas.microsoft.com/office/drawing/2014/main" val="3683562295"/>
                  </a:ext>
                </a:extLst>
              </a:tr>
              <a:tr h="279521">
                <a:tc>
                  <a:txBody>
                    <a:bodyPr/>
                    <a:lstStyle/>
                    <a:p>
                      <a:pPr>
                        <a:buNone/>
                      </a:pPr>
                      <a:r>
                        <a:rPr lang="en-US" sz="1300"/>
                        <a:t>PRICE2</a:t>
                      </a:r>
                    </a:p>
                  </a:txBody>
                  <a:tcPr marL="63527" marR="63527" marT="31764" marB="31764" anchor="ctr">
                    <a:lnL>
                      <a:noFill/>
                    </a:lnL>
                    <a:lnR>
                      <a:noFill/>
                    </a:lnR>
                    <a:lnT>
                      <a:noFill/>
                    </a:lnT>
                    <a:lnB>
                      <a:noFill/>
                    </a:lnB>
                    <a:noFill/>
                  </a:tcPr>
                </a:tc>
                <a:tc>
                  <a:txBody>
                    <a:bodyPr/>
                    <a:lstStyle/>
                    <a:p>
                      <a:pPr>
                        <a:buNone/>
                      </a:pPr>
                      <a:r>
                        <a:rPr lang="en-US" sz="1300"/>
                        <a:t>Price relative to mean category price (above/below average)</a:t>
                      </a:r>
                    </a:p>
                  </a:txBody>
                  <a:tcPr marL="63527" marR="63527" marT="31764" marB="31764" anchor="ctr">
                    <a:lnL>
                      <a:noFill/>
                    </a:lnL>
                    <a:lnR>
                      <a:noFill/>
                    </a:lnR>
                    <a:lnT>
                      <a:noFill/>
                    </a:lnT>
                    <a:lnB>
                      <a:noFill/>
                    </a:lnB>
                    <a:noFill/>
                  </a:tcPr>
                </a:tc>
                <a:extLst>
                  <a:ext uri="{0D108BD9-81ED-4DB2-BD59-A6C34878D82A}">
                    <a16:rowId xmlns:a16="http://schemas.microsoft.com/office/drawing/2014/main" val="4087513892"/>
                  </a:ext>
                </a:extLst>
              </a:tr>
            </a:tbl>
          </a:graphicData>
        </a:graphic>
      </p:graphicFrame>
    </p:spTree>
    <p:extLst>
      <p:ext uri="{BB962C8B-B14F-4D97-AF65-F5344CB8AC3E}">
        <p14:creationId xmlns:p14="http://schemas.microsoft.com/office/powerpoint/2010/main" val="1070941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9C57A3-54CE-8ACF-2CAA-A7BF4CC8ACDF}"/>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Data Preprocessing &amp; Exploration</a:t>
            </a:r>
          </a:p>
          <a:p>
            <a:pPr algn="r"/>
            <a:endParaRPr lang="en-US" sz="4000">
              <a:solidFill>
                <a:srgbClr val="FFFFFF"/>
              </a:solidFill>
            </a:endParaRPr>
          </a:p>
        </p:txBody>
      </p:sp>
      <p:sp>
        <p:nvSpPr>
          <p:cNvPr id="3" name="Content Placeholder 2">
            <a:extLst>
              <a:ext uri="{FF2B5EF4-FFF2-40B4-BE49-F238E27FC236}">
                <a16:creationId xmlns:a16="http://schemas.microsoft.com/office/drawing/2014/main" id="{1B75550C-C81F-2068-B7A1-F8B8C0BFA540}"/>
              </a:ext>
            </a:extLst>
          </p:cNvPr>
          <p:cNvSpPr>
            <a:spLocks noGrp="1"/>
          </p:cNvSpPr>
          <p:nvPr>
            <p:ph idx="1"/>
          </p:nvPr>
        </p:nvSpPr>
        <p:spPr>
          <a:xfrm>
            <a:off x="4374831" y="529739"/>
            <a:ext cx="8057575" cy="6210073"/>
          </a:xfrm>
        </p:spPr>
        <p:txBody>
          <a:bodyPr vert="horz" lIns="91440" tIns="45720" rIns="91440" bIns="45720" rtlCol="0" anchor="ctr">
            <a:normAutofit fontScale="85000" lnSpcReduction="20000"/>
          </a:bodyPr>
          <a:lstStyle/>
          <a:p>
            <a:pPr marL="0" indent="0">
              <a:buNone/>
            </a:pPr>
            <a:r>
              <a:rPr lang="en-US" sz="1500" b="1" dirty="0">
                <a:ea typeface="+mn-lt"/>
                <a:cs typeface="+mn-lt"/>
              </a:rPr>
              <a:t>Data Quality:</a:t>
            </a:r>
            <a:endParaRPr lang="en-US" sz="1500" b="1" dirty="0"/>
          </a:p>
          <a:p>
            <a:pPr marL="0" indent="0">
              <a:buNone/>
            </a:pPr>
            <a:endParaRPr lang="en-US" sz="1500" b="1" dirty="0">
              <a:ea typeface="+mn-lt"/>
              <a:cs typeface="+mn-lt"/>
            </a:endParaRPr>
          </a:p>
          <a:p>
            <a:r>
              <a:rPr lang="en-US" sz="1500" dirty="0">
                <a:ea typeface="+mn-lt"/>
                <a:cs typeface="+mn-lt"/>
              </a:rPr>
              <a:t>No missing values in original dataset</a:t>
            </a:r>
            <a:endParaRPr lang="en-US" sz="1500"/>
          </a:p>
          <a:p>
            <a:r>
              <a:rPr lang="en-US" sz="1500" dirty="0">
                <a:ea typeface="+mn-lt"/>
                <a:cs typeface="+mn-lt"/>
              </a:rPr>
              <a:t>Handled infinite values by replacing with </a:t>
            </a:r>
            <a:r>
              <a:rPr lang="en-US" sz="1500" dirty="0" err="1">
                <a:ea typeface="+mn-lt"/>
                <a:cs typeface="+mn-lt"/>
              </a:rPr>
              <a:t>NaN</a:t>
            </a:r>
            <a:r>
              <a:rPr lang="en-US" sz="1500" dirty="0">
                <a:ea typeface="+mn-lt"/>
                <a:cs typeface="+mn-lt"/>
              </a:rPr>
              <a:t>, then filled with 0</a:t>
            </a:r>
            <a:endParaRPr lang="en-US" sz="1500"/>
          </a:p>
          <a:p>
            <a:r>
              <a:rPr lang="en-US" sz="1500" dirty="0">
                <a:ea typeface="+mn-lt"/>
                <a:cs typeface="+mn-lt"/>
              </a:rPr>
              <a:t>165,474 raw click events aggregated into 24,026 user sessions</a:t>
            </a:r>
            <a:endParaRPr lang="en-US" sz="1500"/>
          </a:p>
          <a:p>
            <a:pPr marL="0" indent="0">
              <a:buNone/>
            </a:pPr>
            <a:r>
              <a:rPr lang="en-US" sz="1500" b="1" dirty="0">
                <a:ea typeface="+mn-lt"/>
                <a:cs typeface="+mn-lt"/>
              </a:rPr>
              <a:t>Feature Engineering:</a:t>
            </a:r>
            <a:endParaRPr lang="en-US" sz="1500" dirty="0">
              <a:ea typeface="+mn-lt"/>
              <a:cs typeface="+mn-lt"/>
            </a:endParaRPr>
          </a:p>
          <a:p>
            <a:pPr marL="0" indent="0">
              <a:buNone/>
            </a:pPr>
            <a:br>
              <a:rPr lang="en-US" sz="1500" dirty="0">
                <a:ea typeface="+mn-lt"/>
                <a:cs typeface="+mn-lt"/>
              </a:rPr>
            </a:br>
            <a:r>
              <a:rPr lang="en-US" sz="1500" dirty="0">
                <a:ea typeface="+mn-lt"/>
                <a:cs typeface="+mn-lt"/>
              </a:rPr>
              <a:t>Created session-level aggregations including:</a:t>
            </a:r>
            <a:endParaRPr lang="en-US" sz="1500"/>
          </a:p>
          <a:p>
            <a:r>
              <a:rPr lang="en-US" sz="1500" b="1" err="1">
                <a:latin typeface="Consolas"/>
              </a:rPr>
              <a:t>clicks_per_session</a:t>
            </a:r>
            <a:r>
              <a:rPr lang="en-US" sz="1500" dirty="0">
                <a:ea typeface="+mn-lt"/>
                <a:cs typeface="+mn-lt"/>
              </a:rPr>
              <a:t>: Average engagement intensity</a:t>
            </a:r>
            <a:endParaRPr lang="en-US" sz="1500"/>
          </a:p>
          <a:p>
            <a:r>
              <a:rPr lang="en-US" sz="1500" b="1" err="1">
                <a:latin typeface="Consolas"/>
              </a:rPr>
              <a:t>max_order</a:t>
            </a:r>
            <a:r>
              <a:rPr lang="en-US" sz="1500" dirty="0">
                <a:ea typeface="+mn-lt"/>
                <a:cs typeface="+mn-lt"/>
              </a:rPr>
              <a:t>: Browsing depth indicator</a:t>
            </a:r>
            <a:endParaRPr lang="en-US" sz="1500"/>
          </a:p>
          <a:p>
            <a:r>
              <a:rPr lang="en-US" sz="1500" b="1" err="1">
                <a:latin typeface="Consolas"/>
              </a:rPr>
              <a:t>order_std</a:t>
            </a:r>
            <a:r>
              <a:rPr lang="en-US" sz="1500" dirty="0">
                <a:ea typeface="+mn-lt"/>
                <a:cs typeface="+mn-lt"/>
              </a:rPr>
              <a:t>: Consistency of navigation pattern</a:t>
            </a:r>
            <a:endParaRPr lang="en-US" sz="1500"/>
          </a:p>
          <a:p>
            <a:r>
              <a:rPr lang="en-US" sz="1500" b="1" err="1">
                <a:latin typeface="Consolas"/>
              </a:rPr>
              <a:t>unique_pages_visited</a:t>
            </a:r>
            <a:r>
              <a:rPr lang="en-US" sz="1500" dirty="0">
                <a:ea typeface="+mn-lt"/>
                <a:cs typeface="+mn-lt"/>
              </a:rPr>
              <a:t>: Content diversity metric</a:t>
            </a:r>
            <a:endParaRPr lang="en-US" sz="1500"/>
          </a:p>
          <a:p>
            <a:r>
              <a:rPr lang="en-US" sz="1500" b="1" err="1">
                <a:latin typeface="Consolas"/>
              </a:rPr>
              <a:t>unique_locations_clicked</a:t>
            </a:r>
            <a:r>
              <a:rPr lang="en-US" sz="1500" dirty="0">
                <a:ea typeface="+mn-lt"/>
                <a:cs typeface="+mn-lt"/>
              </a:rPr>
              <a:t>: Layout interaction spread</a:t>
            </a:r>
            <a:endParaRPr lang="en-US" sz="1500"/>
          </a:p>
          <a:p>
            <a:r>
              <a:rPr lang="en-US" sz="1500" b="1" err="1">
                <a:latin typeface="Consolas"/>
              </a:rPr>
              <a:t>total_session_value</a:t>
            </a:r>
            <a:r>
              <a:rPr lang="en-US" sz="1500" b="1" dirty="0">
                <a:ea typeface="+mn-lt"/>
                <a:cs typeface="+mn-lt"/>
              </a:rPr>
              <a:t>:</a:t>
            </a:r>
            <a:r>
              <a:rPr lang="en-US" sz="1500" dirty="0">
                <a:ea typeface="+mn-lt"/>
                <a:cs typeface="+mn-lt"/>
              </a:rPr>
              <a:t> Target variable for regression</a:t>
            </a:r>
            <a:endParaRPr lang="en-US" sz="1500"/>
          </a:p>
          <a:p>
            <a:pPr marL="0" indent="0">
              <a:buNone/>
            </a:pPr>
            <a:r>
              <a:rPr lang="en-US" sz="1500" b="1" dirty="0">
                <a:ea typeface="+mn-lt"/>
                <a:cs typeface="+mn-lt"/>
              </a:rPr>
              <a:t>User Segmentation:</a:t>
            </a:r>
            <a:endParaRPr lang="en-US" sz="1500" dirty="0">
              <a:ea typeface="+mn-lt"/>
              <a:cs typeface="+mn-lt"/>
            </a:endParaRPr>
          </a:p>
          <a:p>
            <a:pPr marL="0" indent="0">
              <a:buNone/>
            </a:pPr>
            <a:br>
              <a:rPr lang="en-US" sz="1500" dirty="0">
                <a:ea typeface="+mn-lt"/>
                <a:cs typeface="+mn-lt"/>
              </a:rPr>
            </a:br>
            <a:r>
              <a:rPr lang="en-US" sz="1500" dirty="0">
                <a:ea typeface="+mn-lt"/>
                <a:cs typeface="+mn-lt"/>
              </a:rPr>
              <a:t>  Defined three distinct user types based on behavioral patterns:</a:t>
            </a:r>
            <a:endParaRPr lang="en-US" sz="1500"/>
          </a:p>
          <a:p>
            <a:r>
              <a:rPr lang="en-US" sz="1500" b="1" dirty="0">
                <a:ea typeface="+mn-lt"/>
                <a:cs typeface="+mn-lt"/>
              </a:rPr>
              <a:t>Browser (49.8% of users):</a:t>
            </a:r>
            <a:r>
              <a:rPr lang="en-US" sz="1500" dirty="0">
                <a:ea typeface="+mn-lt"/>
                <a:cs typeface="+mn-lt"/>
              </a:rPr>
              <a:t> Low engagement, exploratory behavior</a:t>
            </a:r>
            <a:endParaRPr lang="en-US" sz="1500"/>
          </a:p>
          <a:p>
            <a:r>
              <a:rPr lang="en-US" sz="1500" b="1" dirty="0">
                <a:ea typeface="+mn-lt"/>
                <a:cs typeface="+mn-lt"/>
              </a:rPr>
              <a:t>Explorer (32.4%): </a:t>
            </a:r>
            <a:r>
              <a:rPr lang="en-US" sz="1500" dirty="0">
                <a:ea typeface="+mn-lt"/>
                <a:cs typeface="+mn-lt"/>
              </a:rPr>
              <a:t>Moderate engagement, comparison shopping</a:t>
            </a:r>
            <a:endParaRPr lang="en-US" sz="1500"/>
          </a:p>
          <a:p>
            <a:r>
              <a:rPr lang="en-US" sz="1500" b="1" dirty="0">
                <a:ea typeface="+mn-lt"/>
                <a:cs typeface="+mn-lt"/>
              </a:rPr>
              <a:t>Deep Researcher (17.8%):</a:t>
            </a:r>
            <a:r>
              <a:rPr lang="en-US" sz="1500" dirty="0">
                <a:ea typeface="+mn-lt"/>
                <a:cs typeface="+mn-lt"/>
              </a:rPr>
              <a:t> High engagement, thorough investigation</a:t>
            </a:r>
            <a:endParaRPr lang="en-US" sz="1500"/>
          </a:p>
          <a:p>
            <a:pPr marL="0" indent="0">
              <a:buNone/>
            </a:pPr>
            <a:r>
              <a:rPr lang="en-US" sz="1500" b="1" dirty="0">
                <a:ea typeface="+mn-lt"/>
                <a:cs typeface="+mn-lt"/>
              </a:rPr>
              <a:t>Key Pattern from EDA: </a:t>
            </a:r>
          </a:p>
          <a:p>
            <a:r>
              <a:rPr lang="en-US" sz="1500" dirty="0">
                <a:ea typeface="+mn-lt"/>
                <a:cs typeface="+mn-lt"/>
              </a:rPr>
              <a:t>Strong positive correlation (r=0.992) discovered between </a:t>
            </a:r>
            <a:r>
              <a:rPr lang="en-US" sz="1500" err="1">
                <a:ea typeface="+mn-lt"/>
                <a:cs typeface="+mn-lt"/>
              </a:rPr>
              <a:t>clicks_per_session</a:t>
            </a:r>
            <a:r>
              <a:rPr lang="en-US" sz="1500" dirty="0">
                <a:ea typeface="+mn-lt"/>
                <a:cs typeface="+mn-lt"/>
              </a:rPr>
              <a:t> and </a:t>
            </a:r>
            <a:r>
              <a:rPr lang="en-US" sz="1500" err="1">
                <a:ea typeface="+mn-lt"/>
                <a:cs typeface="+mn-lt"/>
              </a:rPr>
              <a:t>total_session_value</a:t>
            </a:r>
            <a:r>
              <a:rPr lang="en-US" sz="1500" dirty="0">
                <a:ea typeface="+mn-lt"/>
                <a:cs typeface="+mn-lt"/>
              </a:rPr>
              <a:t>, suggesting engagement is the primary revenue driver.</a:t>
            </a:r>
            <a:br>
              <a:rPr lang="en-US" sz="1500" dirty="0"/>
            </a:br>
            <a:endParaRPr lang="en-US" sz="1500"/>
          </a:p>
        </p:txBody>
      </p:sp>
    </p:spTree>
    <p:extLst>
      <p:ext uri="{BB962C8B-B14F-4D97-AF65-F5344CB8AC3E}">
        <p14:creationId xmlns:p14="http://schemas.microsoft.com/office/powerpoint/2010/main" val="1319453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93241B-0DBF-EA46-FEC9-88FCB67BA26F}"/>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Analytical Approach / Methodology</a:t>
            </a:r>
          </a:p>
          <a:p>
            <a:pPr algn="r"/>
            <a:endParaRPr lang="en-US" sz="4000">
              <a:solidFill>
                <a:srgbClr val="FFFFFF"/>
              </a:solidFill>
            </a:endParaRPr>
          </a:p>
        </p:txBody>
      </p:sp>
      <p:sp>
        <p:nvSpPr>
          <p:cNvPr id="3" name="Content Placeholder 2">
            <a:extLst>
              <a:ext uri="{FF2B5EF4-FFF2-40B4-BE49-F238E27FC236}">
                <a16:creationId xmlns:a16="http://schemas.microsoft.com/office/drawing/2014/main" id="{64306B9E-35FB-A512-CEBF-65A6B9197F50}"/>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0" indent="0">
              <a:buNone/>
            </a:pPr>
            <a:r>
              <a:rPr lang="en-US" sz="2000" b="1" dirty="0">
                <a:ea typeface="+mn-lt"/>
                <a:cs typeface="+mn-lt"/>
              </a:rPr>
              <a:t>Algorithms Employed:</a:t>
            </a:r>
            <a:endParaRPr lang="en-US" b="1"/>
          </a:p>
          <a:p>
            <a:pPr marL="0" indent="0">
              <a:buNone/>
            </a:pPr>
            <a:r>
              <a:rPr lang="en-US" sz="2000" b="1" dirty="0">
                <a:ea typeface="+mn-lt"/>
                <a:cs typeface="+mn-lt"/>
              </a:rPr>
              <a:t> Regression Models (Revenue Prediction):</a:t>
            </a:r>
          </a:p>
          <a:p>
            <a:r>
              <a:rPr lang="en-US" sz="2000" dirty="0">
                <a:ea typeface="+mn-lt"/>
                <a:cs typeface="+mn-lt"/>
              </a:rPr>
              <a:t>Linear Regression (Baseline):</a:t>
            </a:r>
          </a:p>
          <a:p>
            <a:r>
              <a:rPr lang="en-US" sz="2000" dirty="0">
                <a:ea typeface="+mn-lt"/>
                <a:cs typeface="+mn-lt"/>
              </a:rPr>
              <a:t>Decision Tree Regressor:</a:t>
            </a:r>
          </a:p>
          <a:p>
            <a:r>
              <a:rPr lang="en-US" sz="2000" dirty="0">
                <a:ea typeface="+mn-lt"/>
                <a:cs typeface="+mn-lt"/>
              </a:rPr>
              <a:t>Random Forest: </a:t>
            </a:r>
          </a:p>
          <a:p>
            <a:r>
              <a:rPr lang="en-US" sz="2000" dirty="0">
                <a:ea typeface="+mn-lt"/>
                <a:cs typeface="+mn-lt"/>
              </a:rPr>
              <a:t>Gradient Boosting: </a:t>
            </a:r>
          </a:p>
          <a:p>
            <a:r>
              <a:rPr lang="en-US" sz="2000" dirty="0">
                <a:ea typeface="+mn-lt"/>
                <a:cs typeface="+mn-lt"/>
              </a:rPr>
              <a:t>Stacking Ensemble</a:t>
            </a:r>
          </a:p>
          <a:p>
            <a:pPr marL="0" indent="0">
              <a:buNone/>
            </a:pPr>
            <a:r>
              <a:rPr lang="en-US" sz="2000" b="1" dirty="0"/>
              <a:t>Time Series Model to predict Future Clicks</a:t>
            </a:r>
          </a:p>
          <a:p>
            <a:r>
              <a:rPr lang="en-US" sz="2000" dirty="0"/>
              <a:t>ARIMA model</a:t>
            </a:r>
          </a:p>
          <a:p>
            <a:r>
              <a:rPr lang="en-US" sz="2000" dirty="0"/>
              <a:t>SARIMA model</a:t>
            </a:r>
          </a:p>
          <a:p>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490655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6DAD2A5-0FB0-D8BE-5DA4-4ABF6AB24B3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700" kern="1200">
                <a:solidFill>
                  <a:srgbClr val="FFFFFF"/>
                </a:solidFill>
                <a:latin typeface="+mj-lt"/>
                <a:ea typeface="+mj-ea"/>
                <a:cs typeface="+mj-cs"/>
              </a:rPr>
              <a:t>Analytical Approach /Methodology</a:t>
            </a:r>
          </a:p>
          <a:p>
            <a:endParaRPr lang="en-US" sz="3700" kern="1200">
              <a:solidFill>
                <a:srgbClr val="FFFFFF"/>
              </a:solidFill>
              <a:latin typeface="+mj-lt"/>
              <a:ea typeface="+mj-ea"/>
              <a:cs typeface="+mj-cs"/>
            </a:endParaRPr>
          </a:p>
          <a:p>
            <a:endParaRPr lang="en-US" sz="3700" kern="1200">
              <a:solidFill>
                <a:srgbClr val="FFFFFF"/>
              </a:solidFill>
              <a:latin typeface="+mj-lt"/>
              <a:ea typeface="+mj-ea"/>
              <a:cs typeface="+mj-cs"/>
            </a:endParaRPr>
          </a:p>
        </p:txBody>
      </p:sp>
      <p:pic>
        <p:nvPicPr>
          <p:cNvPr id="7" name="Content Placeholder 6" descr="A diagram of a process flow&#10;&#10;AI-generated content may be incorrect.">
            <a:extLst>
              <a:ext uri="{FF2B5EF4-FFF2-40B4-BE49-F238E27FC236}">
                <a16:creationId xmlns:a16="http://schemas.microsoft.com/office/drawing/2014/main" id="{7D3B8E37-BB32-2B7C-53E8-4876371AE30F}"/>
              </a:ext>
            </a:extLst>
          </p:cNvPr>
          <p:cNvPicPr>
            <a:picLocks noGrp="1" noChangeAspect="1"/>
          </p:cNvPicPr>
          <p:nvPr>
            <p:ph idx="1"/>
          </p:nvPr>
        </p:nvPicPr>
        <p:blipFill>
          <a:blip r:embed="rId2"/>
          <a:stretch>
            <a:fillRect/>
          </a:stretch>
        </p:blipFill>
        <p:spPr>
          <a:xfrm>
            <a:off x="5312937" y="467208"/>
            <a:ext cx="5604730" cy="5923584"/>
          </a:xfrm>
          <a:prstGeom prst="rect">
            <a:avLst/>
          </a:prstGeom>
        </p:spPr>
      </p:pic>
    </p:spTree>
    <p:extLst>
      <p:ext uri="{BB962C8B-B14F-4D97-AF65-F5344CB8AC3E}">
        <p14:creationId xmlns:p14="http://schemas.microsoft.com/office/powerpoint/2010/main" val="3039622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D47CA9-9D6D-7DB0-5E45-73B84286EA3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Feature Extraction / Data Reduction</a:t>
            </a:r>
          </a:p>
          <a:p>
            <a:pPr algn="r"/>
            <a:endParaRPr lang="en-US" sz="4000">
              <a:solidFill>
                <a:srgbClr val="FFFFFF"/>
              </a:solidFill>
            </a:endParaRPr>
          </a:p>
        </p:txBody>
      </p:sp>
      <p:sp>
        <p:nvSpPr>
          <p:cNvPr id="3" name="Content Placeholder 2">
            <a:extLst>
              <a:ext uri="{FF2B5EF4-FFF2-40B4-BE49-F238E27FC236}">
                <a16:creationId xmlns:a16="http://schemas.microsoft.com/office/drawing/2014/main" id="{27F49E6C-CBA8-C439-8585-B93EB95728B2}"/>
              </a:ext>
            </a:extLst>
          </p:cNvPr>
          <p:cNvSpPr>
            <a:spLocks noGrp="1"/>
          </p:cNvSpPr>
          <p:nvPr>
            <p:ph idx="1"/>
          </p:nvPr>
        </p:nvSpPr>
        <p:spPr>
          <a:xfrm>
            <a:off x="4810259" y="649480"/>
            <a:ext cx="6555347" cy="5546047"/>
          </a:xfrm>
        </p:spPr>
        <p:txBody>
          <a:bodyPr vert="horz" lIns="91440" tIns="45720" rIns="91440" bIns="45720" rtlCol="0" anchor="ctr">
            <a:normAutofit/>
          </a:bodyPr>
          <a:lstStyle/>
          <a:p>
            <a:endParaRPr lang="en-US" sz="1400"/>
          </a:p>
          <a:p>
            <a:pPr marL="0" indent="0">
              <a:buNone/>
            </a:pPr>
            <a:r>
              <a:rPr lang="en-US" sz="1400" b="1">
                <a:ea typeface="+mn-lt"/>
                <a:cs typeface="+mn-lt"/>
              </a:rPr>
              <a:t>Feature Selection Process:</a:t>
            </a:r>
            <a:br>
              <a:rPr lang="en-US" sz="1400" b="1">
                <a:ea typeface="+mn-lt"/>
                <a:cs typeface="+mn-lt"/>
              </a:rPr>
            </a:br>
            <a:r>
              <a:rPr lang="en-US" sz="1400" b="1">
                <a:ea typeface="+mn-lt"/>
                <a:cs typeface="+mn-lt"/>
              </a:rPr>
              <a:t>Reduced 14 raw variables to 5 critical behavioral features:</a:t>
            </a:r>
            <a:endParaRPr lang="en-US" sz="1400" b="1"/>
          </a:p>
          <a:p>
            <a:pPr marL="0" indent="0">
              <a:buNone/>
            </a:pPr>
            <a:r>
              <a:rPr lang="en-US" sz="1400">
                <a:ea typeface="+mn-lt"/>
                <a:cs typeface="+mn-lt"/>
              </a:rPr>
              <a:t>Selected Features (with correlation to revenue):</a:t>
            </a:r>
            <a:endParaRPr lang="en-US" sz="1400"/>
          </a:p>
          <a:p>
            <a:pPr lvl="1">
              <a:buFont typeface="Courier New" panose="020B0604020202020204" pitchFamily="34" charset="0"/>
              <a:buChar char="o"/>
            </a:pPr>
            <a:r>
              <a:rPr lang="en-US" sz="1400">
                <a:latin typeface="Consolas"/>
              </a:rPr>
              <a:t>clicks_per_session</a:t>
            </a:r>
            <a:r>
              <a:rPr lang="en-US" sz="1400">
                <a:ea typeface="+mn-lt"/>
                <a:cs typeface="+mn-lt"/>
              </a:rPr>
              <a:t>: 0.992 correlation - Primary predictor</a:t>
            </a:r>
            <a:endParaRPr lang="en-US" sz="1400"/>
          </a:p>
          <a:p>
            <a:pPr lvl="1">
              <a:buFont typeface="Courier New" panose="020B0604020202020204" pitchFamily="34" charset="0"/>
              <a:buChar char="o"/>
            </a:pPr>
            <a:r>
              <a:rPr lang="en-US" sz="1400">
                <a:latin typeface="Consolas"/>
              </a:rPr>
              <a:t>unique_pages_visited</a:t>
            </a:r>
            <a:r>
              <a:rPr lang="en-US" sz="1400">
                <a:ea typeface="+mn-lt"/>
                <a:cs typeface="+mn-lt"/>
              </a:rPr>
              <a:t>: 0.85 correlation</a:t>
            </a:r>
            <a:endParaRPr lang="en-US" sz="1400"/>
          </a:p>
          <a:p>
            <a:pPr lvl="1">
              <a:buFont typeface="Courier New" panose="020B0604020202020204" pitchFamily="34" charset="0"/>
              <a:buChar char="o"/>
            </a:pPr>
            <a:r>
              <a:rPr lang="en-US" sz="1400">
                <a:latin typeface="Consolas"/>
              </a:rPr>
              <a:t>unique_locations_clicked</a:t>
            </a:r>
            <a:r>
              <a:rPr lang="en-US" sz="1400">
                <a:ea typeface="+mn-lt"/>
                <a:cs typeface="+mn-lt"/>
              </a:rPr>
              <a:t>: 0.72 correlation</a:t>
            </a:r>
            <a:endParaRPr lang="en-US" sz="1400"/>
          </a:p>
          <a:p>
            <a:pPr lvl="1">
              <a:buFont typeface="Courier New" panose="020B0604020202020204" pitchFamily="34" charset="0"/>
              <a:buChar char="o"/>
            </a:pPr>
            <a:r>
              <a:rPr lang="en-US" sz="1400">
                <a:latin typeface="Consolas"/>
              </a:rPr>
              <a:t>max_order</a:t>
            </a:r>
            <a:r>
              <a:rPr lang="en-US" sz="1400">
                <a:ea typeface="+mn-lt"/>
                <a:cs typeface="+mn-lt"/>
              </a:rPr>
              <a:t>: 0.68 correlation</a:t>
            </a:r>
            <a:endParaRPr lang="en-US" sz="1400"/>
          </a:p>
          <a:p>
            <a:pPr lvl="1">
              <a:buFont typeface="Courier New" panose="020B0604020202020204" pitchFamily="34" charset="0"/>
              <a:buChar char="o"/>
            </a:pPr>
            <a:r>
              <a:rPr lang="en-US" sz="1400">
                <a:latin typeface="Consolas"/>
              </a:rPr>
              <a:t>order_std</a:t>
            </a:r>
            <a:r>
              <a:rPr lang="en-US" sz="1400">
                <a:ea typeface="+mn-lt"/>
                <a:cs typeface="+mn-lt"/>
              </a:rPr>
              <a:t>: 0.45 correlation</a:t>
            </a:r>
            <a:endParaRPr lang="en-US" sz="1400"/>
          </a:p>
          <a:p>
            <a:pPr marL="0" indent="0">
              <a:buNone/>
            </a:pPr>
            <a:r>
              <a:rPr lang="en-US" sz="1400" b="1">
                <a:ea typeface="+mn-lt"/>
                <a:cs typeface="+mn-lt"/>
              </a:rPr>
              <a:t>Why These Features:</a:t>
            </a:r>
            <a:endParaRPr lang="en-US" sz="1400" b="1"/>
          </a:p>
          <a:p>
            <a:r>
              <a:rPr lang="en-US" sz="1400">
                <a:ea typeface="+mn-lt"/>
                <a:cs typeface="+mn-lt"/>
              </a:rPr>
              <a:t>Avoid leakage: Excluded price-based features that would artificially inflate model performance</a:t>
            </a:r>
            <a:endParaRPr lang="en-US" sz="1400"/>
          </a:p>
          <a:p>
            <a:r>
              <a:rPr lang="en-US" sz="1400">
                <a:ea typeface="+mn-lt"/>
                <a:cs typeface="+mn-lt"/>
              </a:rPr>
              <a:t>Behavioral focus: Capture user intent through interaction patterns</a:t>
            </a:r>
            <a:endParaRPr lang="en-US" sz="1400"/>
          </a:p>
          <a:p>
            <a:r>
              <a:rPr lang="en-US" sz="1400">
                <a:ea typeface="+mn-lt"/>
                <a:cs typeface="+mn-lt"/>
              </a:rPr>
              <a:t>Multicollinearity check: Correlation matrix showed acceptable independence between predictors</a:t>
            </a:r>
            <a:endParaRPr lang="en-US" sz="1400"/>
          </a:p>
          <a:p>
            <a:r>
              <a:rPr lang="en-US" sz="1400">
                <a:ea typeface="+mn-lt"/>
                <a:cs typeface="+mn-lt"/>
              </a:rPr>
              <a:t>Real-world applicability: Features available in real-time during session</a:t>
            </a:r>
            <a:endParaRPr lang="en-US" sz="1400"/>
          </a:p>
          <a:p>
            <a:pPr marL="0" indent="0">
              <a:buNone/>
            </a:pPr>
            <a:r>
              <a:rPr lang="en-US" sz="1400" b="1">
                <a:ea typeface="+mn-lt"/>
                <a:cs typeface="+mn-lt"/>
              </a:rPr>
              <a:t>Impact on Performance:</a:t>
            </a:r>
            <a:br>
              <a:rPr lang="en-US" sz="1400">
                <a:ea typeface="+mn-lt"/>
                <a:cs typeface="+mn-lt"/>
              </a:rPr>
            </a:br>
            <a:r>
              <a:rPr lang="en-US" sz="1400">
                <a:ea typeface="+mn-lt"/>
                <a:cs typeface="+mn-lt"/>
              </a:rPr>
              <a:t>Despite using only 5 features (vs. 14 original), achieved R² &gt; 0.97 across all models, demonstrating that user engagement is the dominant signal for revenue prediction.</a:t>
            </a:r>
            <a:endParaRPr lang="en-US" sz="1400"/>
          </a:p>
          <a:p>
            <a:endParaRPr lang="en-US" sz="1400"/>
          </a:p>
        </p:txBody>
      </p:sp>
    </p:spTree>
    <p:extLst>
      <p:ext uri="{BB962C8B-B14F-4D97-AF65-F5344CB8AC3E}">
        <p14:creationId xmlns:p14="http://schemas.microsoft.com/office/powerpoint/2010/main" val="2429184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E40FDF-41C9-85A6-03C4-5F4F82515E98}"/>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 Predictive Modelling / Forecasting</a:t>
            </a:r>
          </a:p>
          <a:p>
            <a:pPr algn="r"/>
            <a:endParaRPr lang="en-US" sz="4000">
              <a:solidFill>
                <a:srgbClr val="FFFFFF"/>
              </a:solidFill>
            </a:endParaRPr>
          </a:p>
        </p:txBody>
      </p:sp>
      <p:sp>
        <p:nvSpPr>
          <p:cNvPr id="3" name="Content Placeholder 2">
            <a:extLst>
              <a:ext uri="{FF2B5EF4-FFF2-40B4-BE49-F238E27FC236}">
                <a16:creationId xmlns:a16="http://schemas.microsoft.com/office/drawing/2014/main" id="{8D450BE5-A034-C633-555C-BAD5E6F0B8C5}"/>
              </a:ext>
            </a:extLst>
          </p:cNvPr>
          <p:cNvSpPr>
            <a:spLocks noGrp="1"/>
          </p:cNvSpPr>
          <p:nvPr>
            <p:ph idx="1"/>
          </p:nvPr>
        </p:nvSpPr>
        <p:spPr>
          <a:xfrm>
            <a:off x="4810259" y="649480"/>
            <a:ext cx="6555347" cy="5546047"/>
          </a:xfrm>
        </p:spPr>
        <p:txBody>
          <a:bodyPr vert="horz" lIns="91440" tIns="45720" rIns="91440" bIns="45720" rtlCol="0" anchor="ctr">
            <a:normAutofit/>
          </a:bodyPr>
          <a:lstStyle/>
          <a:p>
            <a:pPr>
              <a:buNone/>
            </a:pPr>
            <a:r>
              <a:rPr lang="en-US" sz="1700" b="1" dirty="0">
                <a:ea typeface="+mn-lt"/>
                <a:cs typeface="+mn-lt"/>
              </a:rPr>
              <a:t>Tools &amp; Libraries:</a:t>
            </a:r>
            <a:endParaRPr lang="en-US" sz="1700" b="1" dirty="0"/>
          </a:p>
          <a:p>
            <a:pPr>
              <a:buFont typeface="Arial"/>
              <a:buChar char="•"/>
            </a:pPr>
            <a:r>
              <a:rPr lang="en-US" sz="1700" dirty="0">
                <a:ea typeface="+mn-lt"/>
                <a:cs typeface="+mn-lt"/>
              </a:rPr>
              <a:t>Python 3.9.7</a:t>
            </a:r>
            <a:endParaRPr lang="en-US" sz="1700" dirty="0"/>
          </a:p>
          <a:p>
            <a:pPr>
              <a:buFont typeface="Arial"/>
              <a:buChar char="•"/>
            </a:pPr>
            <a:r>
              <a:rPr lang="en-US" sz="1700" dirty="0">
                <a:ea typeface="+mn-lt"/>
                <a:cs typeface="+mn-lt"/>
              </a:rPr>
              <a:t>scikit-learn: Model training and evaluation</a:t>
            </a:r>
            <a:endParaRPr lang="en-US" sz="1700" dirty="0"/>
          </a:p>
          <a:p>
            <a:pPr>
              <a:buFont typeface="Arial"/>
              <a:buChar char="•"/>
            </a:pPr>
            <a:r>
              <a:rPr lang="en-US" sz="1700" dirty="0">
                <a:ea typeface="+mn-lt"/>
                <a:cs typeface="+mn-lt"/>
              </a:rPr>
              <a:t>pandas, </a:t>
            </a:r>
            <a:r>
              <a:rPr lang="en-US" sz="1700" dirty="0" err="1">
                <a:ea typeface="+mn-lt"/>
                <a:cs typeface="+mn-lt"/>
              </a:rPr>
              <a:t>numpy</a:t>
            </a:r>
            <a:r>
              <a:rPr lang="en-US" sz="1700" dirty="0">
                <a:ea typeface="+mn-lt"/>
                <a:cs typeface="+mn-lt"/>
              </a:rPr>
              <a:t>: Data manipulation</a:t>
            </a:r>
            <a:endParaRPr lang="en-US" sz="1700" dirty="0"/>
          </a:p>
          <a:p>
            <a:pPr>
              <a:buFont typeface="Arial"/>
              <a:buChar char="•"/>
            </a:pPr>
            <a:r>
              <a:rPr lang="en-US" sz="1700" dirty="0">
                <a:ea typeface="+mn-lt"/>
                <a:cs typeface="+mn-lt"/>
              </a:rPr>
              <a:t>matplotlib, seaborn: Visualization</a:t>
            </a:r>
            <a:endParaRPr lang="en-US" sz="1700" dirty="0"/>
          </a:p>
          <a:p>
            <a:pPr>
              <a:buNone/>
            </a:pPr>
            <a:r>
              <a:rPr lang="en-US" sz="1700" b="1" dirty="0">
                <a:ea typeface="+mn-lt"/>
                <a:cs typeface="+mn-lt"/>
              </a:rPr>
              <a:t>Model Training:</a:t>
            </a:r>
            <a:endParaRPr lang="en-US" sz="1700" b="1" dirty="0"/>
          </a:p>
          <a:p>
            <a:pPr>
              <a:buFont typeface="Arial"/>
              <a:buChar char="•"/>
            </a:pPr>
            <a:r>
              <a:rPr lang="en-US" sz="1700" dirty="0">
                <a:ea typeface="+mn-lt"/>
                <a:cs typeface="+mn-lt"/>
              </a:rPr>
              <a:t>Train/Test Split: 80/20 (19,221 train / 4,805 test sessions)</a:t>
            </a:r>
            <a:endParaRPr lang="en-US" sz="1700" dirty="0"/>
          </a:p>
          <a:p>
            <a:pPr>
              <a:buFont typeface="Arial"/>
              <a:buChar char="•"/>
            </a:pPr>
            <a:r>
              <a:rPr lang="en-US" sz="1700" dirty="0">
                <a:ea typeface="+mn-lt"/>
                <a:cs typeface="+mn-lt"/>
              </a:rPr>
              <a:t>Feature Scaling: </a:t>
            </a:r>
            <a:r>
              <a:rPr lang="en-US" sz="1700" dirty="0" err="1">
                <a:ea typeface="+mn-lt"/>
                <a:cs typeface="+mn-lt"/>
              </a:rPr>
              <a:t>StandardScaler</a:t>
            </a:r>
            <a:r>
              <a:rPr lang="en-US" sz="1700" dirty="0">
                <a:ea typeface="+mn-lt"/>
                <a:cs typeface="+mn-lt"/>
              </a:rPr>
              <a:t> (zero mean, unit variance)</a:t>
            </a:r>
            <a:endParaRPr lang="en-US" sz="1700" dirty="0"/>
          </a:p>
          <a:p>
            <a:pPr>
              <a:buFont typeface="Arial"/>
              <a:buChar char="•"/>
            </a:pPr>
            <a:r>
              <a:rPr lang="en-US" sz="1700" dirty="0">
                <a:ea typeface="+mn-lt"/>
                <a:cs typeface="+mn-lt"/>
              </a:rPr>
              <a:t>Cross-Validation: 5-fold CV for stacking ensemble</a:t>
            </a:r>
            <a:endParaRPr lang="en-US" sz="1700" dirty="0"/>
          </a:p>
          <a:p>
            <a:pPr>
              <a:buFont typeface="Arial"/>
              <a:buChar char="•"/>
            </a:pPr>
            <a:r>
              <a:rPr lang="en-US" sz="1700" dirty="0">
                <a:ea typeface="+mn-lt"/>
                <a:cs typeface="+mn-lt"/>
              </a:rPr>
              <a:t>Random State: 42 for reproducibility</a:t>
            </a:r>
            <a:endParaRPr lang="en-US" sz="1700" dirty="0"/>
          </a:p>
          <a:p>
            <a:pPr>
              <a:buNone/>
            </a:pPr>
            <a:r>
              <a:rPr lang="en-US" sz="1700" b="1">
                <a:ea typeface="+mn-lt"/>
                <a:cs typeface="+mn-lt"/>
              </a:rPr>
              <a:t>Hyperparameters:</a:t>
            </a:r>
            <a:endParaRPr lang="en-US" sz="1700" b="1"/>
          </a:p>
          <a:p>
            <a:pPr>
              <a:buFont typeface="Arial"/>
              <a:buChar char="•"/>
            </a:pPr>
            <a:r>
              <a:rPr lang="en-US" sz="1700" b="1" dirty="0">
                <a:ea typeface="+mn-lt"/>
                <a:cs typeface="+mn-lt"/>
              </a:rPr>
              <a:t>Random Forest:</a:t>
            </a:r>
            <a:r>
              <a:rPr lang="en-US" sz="1700" dirty="0">
                <a:ea typeface="+mn-lt"/>
                <a:cs typeface="+mn-lt"/>
              </a:rPr>
              <a:t> </a:t>
            </a:r>
            <a:r>
              <a:rPr lang="en-US" sz="1700" dirty="0" err="1">
                <a:ea typeface="+mn-lt"/>
                <a:cs typeface="+mn-lt"/>
              </a:rPr>
              <a:t>n_estimators</a:t>
            </a:r>
            <a:r>
              <a:rPr lang="en-US" sz="1700" dirty="0">
                <a:ea typeface="+mn-lt"/>
                <a:cs typeface="+mn-lt"/>
              </a:rPr>
              <a:t>=50, </a:t>
            </a:r>
            <a:r>
              <a:rPr lang="en-US" sz="1700" dirty="0" err="1">
                <a:ea typeface="+mn-lt"/>
                <a:cs typeface="+mn-lt"/>
              </a:rPr>
              <a:t>max_depth</a:t>
            </a:r>
            <a:r>
              <a:rPr lang="en-US" sz="1700" dirty="0">
                <a:ea typeface="+mn-lt"/>
                <a:cs typeface="+mn-lt"/>
              </a:rPr>
              <a:t>=10</a:t>
            </a:r>
            <a:endParaRPr lang="en-US" sz="1700" dirty="0"/>
          </a:p>
          <a:p>
            <a:pPr>
              <a:buFont typeface="Arial"/>
              <a:buChar char="•"/>
            </a:pPr>
            <a:r>
              <a:rPr lang="en-US" sz="1700" b="1">
                <a:ea typeface="+mn-lt"/>
                <a:cs typeface="+mn-lt"/>
              </a:rPr>
              <a:t>Gradient Boosting:</a:t>
            </a:r>
            <a:r>
              <a:rPr lang="en-US" sz="1700" dirty="0">
                <a:ea typeface="+mn-lt"/>
                <a:cs typeface="+mn-lt"/>
              </a:rPr>
              <a:t> </a:t>
            </a:r>
            <a:r>
              <a:rPr lang="en-US" sz="1700" err="1">
                <a:ea typeface="+mn-lt"/>
                <a:cs typeface="+mn-lt"/>
              </a:rPr>
              <a:t>n_estimators</a:t>
            </a:r>
            <a:r>
              <a:rPr lang="en-US" sz="1700">
                <a:ea typeface="+mn-lt"/>
                <a:cs typeface="+mn-lt"/>
              </a:rPr>
              <a:t>=50, </a:t>
            </a:r>
            <a:r>
              <a:rPr lang="en-US" sz="1700" err="1">
                <a:ea typeface="+mn-lt"/>
                <a:cs typeface="+mn-lt"/>
              </a:rPr>
              <a:t>learning_rate</a:t>
            </a:r>
            <a:r>
              <a:rPr lang="en-US" sz="1700">
                <a:ea typeface="+mn-lt"/>
                <a:cs typeface="+mn-lt"/>
              </a:rPr>
              <a:t>=0.1, </a:t>
            </a:r>
            <a:r>
              <a:rPr lang="en-US" sz="1700" err="1">
                <a:ea typeface="+mn-lt"/>
                <a:cs typeface="+mn-lt"/>
              </a:rPr>
              <a:t>max_depth</a:t>
            </a:r>
            <a:r>
              <a:rPr lang="en-US" sz="1700">
                <a:ea typeface="+mn-lt"/>
                <a:cs typeface="+mn-lt"/>
              </a:rPr>
              <a:t>=5</a:t>
            </a:r>
            <a:endParaRPr lang="en-US" sz="1700"/>
          </a:p>
          <a:p>
            <a:pPr>
              <a:buFont typeface="Arial"/>
              <a:buChar char="•"/>
            </a:pPr>
            <a:r>
              <a:rPr lang="en-US" sz="1700" b="1" dirty="0">
                <a:ea typeface="+mn-lt"/>
                <a:cs typeface="+mn-lt"/>
              </a:rPr>
              <a:t>Decision Tree:</a:t>
            </a:r>
            <a:r>
              <a:rPr lang="en-US" sz="1700" dirty="0">
                <a:ea typeface="+mn-lt"/>
                <a:cs typeface="+mn-lt"/>
              </a:rPr>
              <a:t> </a:t>
            </a:r>
            <a:r>
              <a:rPr lang="en-US" sz="1700" dirty="0" err="1">
                <a:ea typeface="+mn-lt"/>
                <a:cs typeface="+mn-lt"/>
              </a:rPr>
              <a:t>max_depth</a:t>
            </a:r>
            <a:r>
              <a:rPr lang="en-US" sz="1700" dirty="0">
                <a:ea typeface="+mn-lt"/>
                <a:cs typeface="+mn-lt"/>
              </a:rPr>
              <a:t>=10, </a:t>
            </a:r>
            <a:r>
              <a:rPr lang="en-US" sz="1700" dirty="0" err="1">
                <a:ea typeface="+mn-lt"/>
                <a:cs typeface="+mn-lt"/>
              </a:rPr>
              <a:t>min_samples_split</a:t>
            </a:r>
            <a:r>
              <a:rPr lang="en-US" sz="1700" dirty="0">
                <a:ea typeface="+mn-lt"/>
                <a:cs typeface="+mn-lt"/>
              </a:rPr>
              <a:t>=10</a:t>
            </a:r>
            <a:endParaRPr lang="en-US" sz="1700" dirty="0"/>
          </a:p>
          <a:p>
            <a:pPr marL="0" indent="0">
              <a:buNone/>
            </a:pPr>
            <a:endParaRPr lang="en-US" sz="1700"/>
          </a:p>
        </p:txBody>
      </p:sp>
    </p:spTree>
    <p:extLst>
      <p:ext uri="{BB962C8B-B14F-4D97-AF65-F5344CB8AC3E}">
        <p14:creationId xmlns:p14="http://schemas.microsoft.com/office/powerpoint/2010/main" val="105816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0" name="Rectangle 1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63594D-0A43-9E7C-F6CB-28D7E94E9E12}"/>
              </a:ext>
            </a:extLst>
          </p:cNvPr>
          <p:cNvSpPr>
            <a:spLocks noGrp="1"/>
          </p:cNvSpPr>
          <p:nvPr>
            <p:ph type="title"/>
          </p:nvPr>
        </p:nvSpPr>
        <p:spPr>
          <a:xfrm>
            <a:off x="1043631" y="809898"/>
            <a:ext cx="10173010" cy="1554480"/>
          </a:xfrm>
        </p:spPr>
        <p:txBody>
          <a:bodyPr vert="horz" lIns="91440" tIns="45720" rIns="91440" bIns="45720" rtlCol="0" anchor="ctr">
            <a:normAutofit/>
          </a:bodyPr>
          <a:lstStyle/>
          <a:p>
            <a:r>
              <a:rPr lang="en-US" sz="4800" kern="1200" dirty="0">
                <a:latin typeface="+mj-lt"/>
                <a:ea typeface="+mj-ea"/>
                <a:cs typeface="+mj-cs"/>
              </a:rPr>
              <a:t>Results</a:t>
            </a:r>
            <a:r>
              <a:rPr lang="en-US" sz="4800" dirty="0"/>
              <a:t> (Machine Learning Models)</a:t>
            </a:r>
            <a:endParaRPr lang="en-US" sz="4800" kern="1200" dirty="0">
              <a:latin typeface="+mj-lt"/>
              <a:ea typeface="+mj-ea"/>
              <a:cs typeface="+mj-cs"/>
            </a:endParaRPr>
          </a:p>
        </p:txBody>
      </p:sp>
      <p:cxnSp>
        <p:nvCxnSpPr>
          <p:cNvPr id="26" name="Straight Connector 2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4">
            <a:extLst>
              <a:ext uri="{FF2B5EF4-FFF2-40B4-BE49-F238E27FC236}">
                <a16:creationId xmlns:a16="http://schemas.microsoft.com/office/drawing/2014/main" id="{21F8E7CF-9610-43AA-7A7E-BDA914969F22}"/>
              </a:ext>
            </a:extLst>
          </p:cNvPr>
          <p:cNvGraphicFramePr>
            <a:graphicFrameLocks noGrp="1"/>
          </p:cNvGraphicFramePr>
          <p:nvPr>
            <p:ph idx="1"/>
            <p:extLst>
              <p:ext uri="{D42A27DB-BD31-4B8C-83A1-F6EECF244321}">
                <p14:modId xmlns:p14="http://schemas.microsoft.com/office/powerpoint/2010/main" val="700791861"/>
              </p:ext>
            </p:extLst>
          </p:nvPr>
        </p:nvGraphicFramePr>
        <p:xfrm>
          <a:off x="1900748" y="3017519"/>
          <a:ext cx="8386150" cy="3209906"/>
        </p:xfrm>
        <a:graphic>
          <a:graphicData uri="http://schemas.openxmlformats.org/drawingml/2006/table">
            <a:tbl>
              <a:tblPr firstRow="1" bandRow="1">
                <a:noFill/>
                <a:tableStyleId>{5C22544A-7EE6-4342-B048-85BDC9FD1C3A}</a:tableStyleId>
              </a:tblPr>
              <a:tblGrid>
                <a:gridCol w="2981755">
                  <a:extLst>
                    <a:ext uri="{9D8B030D-6E8A-4147-A177-3AD203B41FA5}">
                      <a16:colId xmlns:a16="http://schemas.microsoft.com/office/drawing/2014/main" val="1574944106"/>
                    </a:ext>
                  </a:extLst>
                </a:gridCol>
                <a:gridCol w="1515127">
                  <a:extLst>
                    <a:ext uri="{9D8B030D-6E8A-4147-A177-3AD203B41FA5}">
                      <a16:colId xmlns:a16="http://schemas.microsoft.com/office/drawing/2014/main" val="3941616081"/>
                    </a:ext>
                  </a:extLst>
                </a:gridCol>
                <a:gridCol w="1261637">
                  <a:extLst>
                    <a:ext uri="{9D8B030D-6E8A-4147-A177-3AD203B41FA5}">
                      <a16:colId xmlns:a16="http://schemas.microsoft.com/office/drawing/2014/main" val="3002225297"/>
                    </a:ext>
                  </a:extLst>
                </a:gridCol>
                <a:gridCol w="1241447">
                  <a:extLst>
                    <a:ext uri="{9D8B030D-6E8A-4147-A177-3AD203B41FA5}">
                      <a16:colId xmlns:a16="http://schemas.microsoft.com/office/drawing/2014/main" val="33222004"/>
                    </a:ext>
                  </a:extLst>
                </a:gridCol>
                <a:gridCol w="1386184">
                  <a:extLst>
                    <a:ext uri="{9D8B030D-6E8A-4147-A177-3AD203B41FA5}">
                      <a16:colId xmlns:a16="http://schemas.microsoft.com/office/drawing/2014/main" val="4048965928"/>
                    </a:ext>
                  </a:extLst>
                </a:gridCol>
              </a:tblGrid>
              <a:tr h="597356">
                <a:tc>
                  <a:txBody>
                    <a:bodyPr/>
                    <a:lstStyle/>
                    <a:p>
                      <a:pPr algn="l">
                        <a:buNone/>
                      </a:pPr>
                      <a:r>
                        <a:rPr lang="en-US" sz="2000" b="1" cap="none" spc="0">
                          <a:solidFill>
                            <a:schemeClr val="bg1"/>
                          </a:solidFill>
                          <a:effectLst/>
                        </a:rPr>
                        <a:t>Model</a:t>
                      </a:r>
                    </a:p>
                  </a:txBody>
                  <a:tcPr marL="90749" marR="64820" marT="129642" marB="129642"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US" sz="2000" b="1" cap="none" spc="0">
                          <a:solidFill>
                            <a:schemeClr val="bg1"/>
                          </a:solidFill>
                          <a:effectLst/>
                        </a:rPr>
                        <a:t>RMSE</a:t>
                      </a:r>
                    </a:p>
                  </a:txBody>
                  <a:tcPr marL="90749" marR="64820" marT="129642" marB="129642"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US" sz="2000" b="1" cap="none" spc="0">
                          <a:solidFill>
                            <a:schemeClr val="bg1"/>
                          </a:solidFill>
                          <a:effectLst/>
                        </a:rPr>
                        <a:t>MAE</a:t>
                      </a:r>
                    </a:p>
                  </a:txBody>
                  <a:tcPr marL="90749" marR="64820" marT="129642" marB="129642"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US" sz="2000" b="1" cap="none" spc="0">
                          <a:solidFill>
                            <a:schemeClr val="bg1"/>
                          </a:solidFill>
                          <a:effectLst/>
                        </a:rPr>
                        <a:t>R²</a:t>
                      </a:r>
                    </a:p>
                  </a:txBody>
                  <a:tcPr marL="90749" marR="64820" marT="129642" marB="129642"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US" sz="2000" b="1" cap="none" spc="0">
                          <a:solidFill>
                            <a:schemeClr val="bg1"/>
                          </a:solidFill>
                          <a:effectLst/>
                        </a:rPr>
                        <a:t>Rank</a:t>
                      </a:r>
                    </a:p>
                  </a:txBody>
                  <a:tcPr marL="90749" marR="64820" marT="129642" marB="129642"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3214709791"/>
                  </a:ext>
                </a:extLst>
              </a:tr>
              <a:tr h="522510">
                <a:tc>
                  <a:txBody>
                    <a:bodyPr/>
                    <a:lstStyle/>
                    <a:p>
                      <a:pPr algn="l">
                        <a:buNone/>
                      </a:pPr>
                      <a:r>
                        <a:rPr lang="en-US" sz="1700" cap="none" spc="0">
                          <a:solidFill>
                            <a:schemeClr val="tx1"/>
                          </a:solidFill>
                          <a:effectLst/>
                        </a:rPr>
                        <a:t>Linear Regression</a:t>
                      </a:r>
                    </a:p>
                  </a:txBody>
                  <a:tcPr marL="90749" marR="64820" marT="108035" marB="129642"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l">
                        <a:buNone/>
                      </a:pPr>
                      <a:r>
                        <a:rPr lang="en-US" sz="1700" cap="none" spc="0">
                          <a:solidFill>
                            <a:schemeClr val="tx1"/>
                          </a:solidFill>
                          <a:effectLst/>
                        </a:rPr>
                        <a:t>46.45</a:t>
                      </a:r>
                    </a:p>
                  </a:txBody>
                  <a:tcPr marL="90749" marR="64820" marT="108035" marB="129642"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l">
                        <a:buNone/>
                      </a:pPr>
                      <a:r>
                        <a:rPr lang="en-US" sz="1700" cap="none" spc="0">
                          <a:solidFill>
                            <a:schemeClr val="tx1"/>
                          </a:solidFill>
                          <a:effectLst/>
                        </a:rPr>
                        <a:t>29.55</a:t>
                      </a:r>
                    </a:p>
                  </a:txBody>
                  <a:tcPr marL="90749" marR="64820" marT="108035" marB="129642"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l">
                        <a:buNone/>
                      </a:pPr>
                      <a:r>
                        <a:rPr lang="en-US" sz="1700" cap="none" spc="0">
                          <a:solidFill>
                            <a:schemeClr val="tx1"/>
                          </a:solidFill>
                          <a:effectLst/>
                        </a:rPr>
                        <a:t>0.986</a:t>
                      </a:r>
                    </a:p>
                  </a:txBody>
                  <a:tcPr marL="90749" marR="64820" marT="108035" marB="129642"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l">
                        <a:buNone/>
                      </a:pPr>
                      <a:r>
                        <a:rPr lang="en-US" sz="1700" cap="none" spc="0">
                          <a:solidFill>
                            <a:schemeClr val="tx1"/>
                          </a:solidFill>
                          <a:effectLst/>
                        </a:rPr>
                        <a:t> 1st</a:t>
                      </a:r>
                    </a:p>
                  </a:txBody>
                  <a:tcPr marL="90749" marR="64820" marT="108035" marB="129642" anchor="ctr">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2282118203"/>
                  </a:ext>
                </a:extLst>
              </a:tr>
              <a:tr h="522510">
                <a:tc>
                  <a:txBody>
                    <a:bodyPr/>
                    <a:lstStyle/>
                    <a:p>
                      <a:pPr algn="l">
                        <a:buNone/>
                      </a:pPr>
                      <a:r>
                        <a:rPr lang="en-US" sz="1700" cap="none" spc="0">
                          <a:solidFill>
                            <a:schemeClr val="tx1"/>
                          </a:solidFill>
                          <a:effectLst/>
                        </a:rPr>
                        <a:t>Stacking Ensemble</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a:buNone/>
                      </a:pPr>
                      <a:r>
                        <a:rPr lang="en-US" sz="1700" cap="none" spc="0">
                          <a:solidFill>
                            <a:schemeClr val="tx1"/>
                          </a:solidFill>
                          <a:effectLst/>
                        </a:rPr>
                        <a:t>58.43</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a:buNone/>
                      </a:pPr>
                      <a:r>
                        <a:rPr lang="en-US" sz="1700" cap="none" spc="0">
                          <a:solidFill>
                            <a:schemeClr val="tx1"/>
                          </a:solidFill>
                          <a:effectLst/>
                        </a:rPr>
                        <a:t>29.61</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a:buNone/>
                      </a:pPr>
                      <a:r>
                        <a:rPr lang="en-US" sz="1700" cap="none" spc="0">
                          <a:solidFill>
                            <a:schemeClr val="tx1"/>
                          </a:solidFill>
                          <a:effectLst/>
                        </a:rPr>
                        <a:t>0.979</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a:buNone/>
                      </a:pPr>
                      <a:r>
                        <a:rPr lang="en-US" sz="1700" cap="none" spc="0">
                          <a:solidFill>
                            <a:schemeClr val="tx1"/>
                          </a:solidFill>
                          <a:effectLst/>
                        </a:rPr>
                        <a:t>2nd</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173406285"/>
                  </a:ext>
                </a:extLst>
              </a:tr>
              <a:tr h="522510">
                <a:tc>
                  <a:txBody>
                    <a:bodyPr/>
                    <a:lstStyle/>
                    <a:p>
                      <a:pPr algn="l">
                        <a:buNone/>
                      </a:pPr>
                      <a:r>
                        <a:rPr lang="en-US" sz="1700" cap="none" spc="0">
                          <a:solidFill>
                            <a:schemeClr val="tx1"/>
                          </a:solidFill>
                          <a:effectLst/>
                        </a:rPr>
                        <a:t>Gradient Boosting</a:t>
                      </a:r>
                    </a:p>
                  </a:txBody>
                  <a:tcPr marL="90749" marR="64820" marT="108035" marB="129642"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a:buNone/>
                      </a:pPr>
                      <a:r>
                        <a:rPr lang="en-US" sz="1700" cap="none" spc="0">
                          <a:solidFill>
                            <a:schemeClr val="tx1"/>
                          </a:solidFill>
                          <a:effectLst/>
                        </a:rPr>
                        <a:t>59.18</a:t>
                      </a:r>
                    </a:p>
                  </a:txBody>
                  <a:tcPr marL="90749" marR="64820" marT="108035" marB="129642"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a:buNone/>
                      </a:pPr>
                      <a:r>
                        <a:rPr lang="en-US" sz="1700" cap="none" spc="0">
                          <a:solidFill>
                            <a:schemeClr val="tx1"/>
                          </a:solidFill>
                          <a:effectLst/>
                        </a:rPr>
                        <a:t>29.75</a:t>
                      </a:r>
                    </a:p>
                  </a:txBody>
                  <a:tcPr marL="90749" marR="64820" marT="108035" marB="129642"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a:buNone/>
                      </a:pPr>
                      <a:r>
                        <a:rPr lang="en-US" sz="1700" cap="none" spc="0">
                          <a:solidFill>
                            <a:schemeClr val="tx1"/>
                          </a:solidFill>
                          <a:effectLst/>
                        </a:rPr>
                        <a:t>0.978</a:t>
                      </a:r>
                    </a:p>
                  </a:txBody>
                  <a:tcPr marL="90749" marR="64820" marT="108035" marB="129642"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a:buNone/>
                      </a:pPr>
                      <a:r>
                        <a:rPr lang="en-US" sz="1700" cap="none" spc="0">
                          <a:solidFill>
                            <a:schemeClr val="tx1"/>
                          </a:solidFill>
                          <a:effectLst/>
                        </a:rPr>
                        <a:t> 3rd</a:t>
                      </a:r>
                    </a:p>
                  </a:txBody>
                  <a:tcPr marL="90749" marR="64820" marT="108035" marB="129642"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633211909"/>
                  </a:ext>
                </a:extLst>
              </a:tr>
              <a:tr h="522510">
                <a:tc>
                  <a:txBody>
                    <a:bodyPr/>
                    <a:lstStyle/>
                    <a:p>
                      <a:pPr algn="l">
                        <a:buNone/>
                      </a:pPr>
                      <a:r>
                        <a:rPr lang="en-US" sz="1700" cap="none" spc="0">
                          <a:solidFill>
                            <a:schemeClr val="tx1"/>
                          </a:solidFill>
                          <a:effectLst/>
                        </a:rPr>
                        <a:t>Decision Tree</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a:buNone/>
                      </a:pPr>
                      <a:r>
                        <a:rPr lang="en-US" sz="1700" cap="none" spc="0">
                          <a:solidFill>
                            <a:schemeClr val="tx1"/>
                          </a:solidFill>
                          <a:effectLst/>
                        </a:rPr>
                        <a:t>60.08</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a:buNone/>
                      </a:pPr>
                      <a:r>
                        <a:rPr lang="en-US" sz="1700" cap="none" spc="0">
                          <a:solidFill>
                            <a:schemeClr val="tx1"/>
                          </a:solidFill>
                          <a:effectLst/>
                        </a:rPr>
                        <a:t>30.10</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a:buNone/>
                      </a:pPr>
                      <a:r>
                        <a:rPr lang="en-US" sz="1700" cap="none" spc="0">
                          <a:solidFill>
                            <a:schemeClr val="tx1"/>
                          </a:solidFill>
                          <a:effectLst/>
                        </a:rPr>
                        <a:t>0.977</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a:buNone/>
                      </a:pPr>
                      <a:r>
                        <a:rPr lang="en-US" sz="1700" cap="none" spc="0">
                          <a:solidFill>
                            <a:schemeClr val="tx1"/>
                          </a:solidFill>
                          <a:effectLst/>
                        </a:rPr>
                        <a:t>4th</a:t>
                      </a:r>
                    </a:p>
                  </a:txBody>
                  <a:tcPr marL="90749" marR="64820" marT="108035" marB="129642"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291785497"/>
                  </a:ext>
                </a:extLst>
              </a:tr>
              <a:tr h="522510">
                <a:tc>
                  <a:txBody>
                    <a:bodyPr/>
                    <a:lstStyle/>
                    <a:p>
                      <a:pPr algn="l">
                        <a:buNone/>
                      </a:pPr>
                      <a:r>
                        <a:rPr lang="en-US" sz="1700" cap="none" spc="0">
                          <a:solidFill>
                            <a:schemeClr val="tx1"/>
                          </a:solidFill>
                          <a:effectLst/>
                        </a:rPr>
                        <a:t>Random Forest</a:t>
                      </a:r>
                    </a:p>
                  </a:txBody>
                  <a:tcPr marL="90749" marR="64820" marT="108035" marB="129642"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buNone/>
                      </a:pPr>
                      <a:r>
                        <a:rPr lang="en-US" sz="1700" cap="none" spc="0">
                          <a:solidFill>
                            <a:schemeClr val="tx1"/>
                          </a:solidFill>
                          <a:effectLst/>
                        </a:rPr>
                        <a:t>65.38</a:t>
                      </a:r>
                    </a:p>
                  </a:txBody>
                  <a:tcPr marL="90749" marR="64820" marT="108035" marB="129642"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buNone/>
                      </a:pPr>
                      <a:r>
                        <a:rPr lang="en-US" sz="1700" cap="none" spc="0">
                          <a:solidFill>
                            <a:schemeClr val="tx1"/>
                          </a:solidFill>
                          <a:effectLst/>
                        </a:rPr>
                        <a:t>29.98</a:t>
                      </a:r>
                    </a:p>
                  </a:txBody>
                  <a:tcPr marL="90749" marR="64820" marT="108035" marB="129642"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buNone/>
                      </a:pPr>
                      <a:r>
                        <a:rPr lang="en-US" sz="1700" cap="none" spc="0">
                          <a:solidFill>
                            <a:schemeClr val="tx1"/>
                          </a:solidFill>
                          <a:effectLst/>
                        </a:rPr>
                        <a:t>0.973</a:t>
                      </a:r>
                    </a:p>
                  </a:txBody>
                  <a:tcPr marL="90749" marR="64820" marT="108035" marB="129642"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buNone/>
                      </a:pPr>
                      <a:r>
                        <a:rPr lang="en-US" sz="1700" cap="none" spc="0">
                          <a:solidFill>
                            <a:schemeClr val="tx1"/>
                          </a:solidFill>
                          <a:effectLst/>
                        </a:rPr>
                        <a:t>5th</a:t>
                      </a:r>
                    </a:p>
                  </a:txBody>
                  <a:tcPr marL="90749" marR="64820" marT="108035" marB="12964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03195615"/>
                  </a:ext>
                </a:extLst>
              </a:tr>
            </a:tbl>
          </a:graphicData>
        </a:graphic>
      </p:graphicFrame>
    </p:spTree>
    <p:extLst>
      <p:ext uri="{BB962C8B-B14F-4D97-AF65-F5344CB8AC3E}">
        <p14:creationId xmlns:p14="http://schemas.microsoft.com/office/powerpoint/2010/main" val="2093578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95DF78-637C-A5BA-0626-E277F7849DEB}"/>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4" name="Rectangle 3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D95664-D0C4-DF01-1CF2-8DBF5F155478}"/>
              </a:ext>
            </a:extLst>
          </p:cNvPr>
          <p:cNvSpPr>
            <a:spLocks noGrp="1"/>
          </p:cNvSpPr>
          <p:nvPr>
            <p:ph type="title"/>
          </p:nvPr>
        </p:nvSpPr>
        <p:spPr>
          <a:xfrm>
            <a:off x="1043631" y="809898"/>
            <a:ext cx="10173010" cy="1554480"/>
          </a:xfrm>
        </p:spPr>
        <p:txBody>
          <a:bodyPr vert="horz" lIns="91440" tIns="45720" rIns="91440" bIns="45720" rtlCol="0" anchor="ctr">
            <a:normAutofit/>
          </a:bodyPr>
          <a:lstStyle/>
          <a:p>
            <a:r>
              <a:rPr lang="en-US" sz="4800" kern="1200" dirty="0">
                <a:latin typeface="+mj-lt"/>
                <a:ea typeface="+mj-ea"/>
                <a:cs typeface="+mj-cs"/>
              </a:rPr>
              <a:t>Results</a:t>
            </a:r>
            <a:r>
              <a:rPr lang="en-US" sz="4800" dirty="0"/>
              <a:t> (Time Series)</a:t>
            </a:r>
            <a:endParaRPr lang="en-US" sz="4800" kern="1200" dirty="0">
              <a:latin typeface="+mj-lt"/>
              <a:ea typeface="+mj-ea"/>
              <a:cs typeface="+mj-cs"/>
            </a:endParaRPr>
          </a:p>
        </p:txBody>
      </p:sp>
      <p:cxnSp>
        <p:nvCxnSpPr>
          <p:cNvPr id="55" name="Straight Connector 5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11" name="Content Placeholder 10">
            <a:extLst>
              <a:ext uri="{FF2B5EF4-FFF2-40B4-BE49-F238E27FC236}">
                <a16:creationId xmlns:a16="http://schemas.microsoft.com/office/drawing/2014/main" id="{6FC0C3E7-2612-0740-A32D-7DD0C9EE35F9}"/>
              </a:ext>
            </a:extLst>
          </p:cNvPr>
          <p:cNvGraphicFramePr>
            <a:graphicFrameLocks noGrp="1"/>
          </p:cNvGraphicFramePr>
          <p:nvPr>
            <p:ph idx="1"/>
            <p:extLst>
              <p:ext uri="{D42A27DB-BD31-4B8C-83A1-F6EECF244321}">
                <p14:modId xmlns:p14="http://schemas.microsoft.com/office/powerpoint/2010/main" val="3851751662"/>
              </p:ext>
            </p:extLst>
          </p:nvPr>
        </p:nvGraphicFramePr>
        <p:xfrm>
          <a:off x="838200" y="3023054"/>
          <a:ext cx="10515597" cy="2771775"/>
        </p:xfrm>
        <a:graphic>
          <a:graphicData uri="http://schemas.openxmlformats.org/drawingml/2006/table">
            <a:tbl>
              <a:tblPr bandRow="1">
                <a:tableStyleId>{5C22544A-7EE6-4342-B048-85BDC9FD1C3A}</a:tableStyleId>
              </a:tblPr>
              <a:tblGrid>
                <a:gridCol w="2103120">
                  <a:extLst>
                    <a:ext uri="{9D8B030D-6E8A-4147-A177-3AD203B41FA5}">
                      <a16:colId xmlns:a16="http://schemas.microsoft.com/office/drawing/2014/main" val="4195910192"/>
                    </a:ext>
                  </a:extLst>
                </a:gridCol>
                <a:gridCol w="1947333">
                  <a:extLst>
                    <a:ext uri="{9D8B030D-6E8A-4147-A177-3AD203B41FA5}">
                      <a16:colId xmlns:a16="http://schemas.microsoft.com/office/drawing/2014/main" val="1210751438"/>
                    </a:ext>
                  </a:extLst>
                </a:gridCol>
                <a:gridCol w="1635759">
                  <a:extLst>
                    <a:ext uri="{9D8B030D-6E8A-4147-A177-3AD203B41FA5}">
                      <a16:colId xmlns:a16="http://schemas.microsoft.com/office/drawing/2014/main" val="1951760436"/>
                    </a:ext>
                  </a:extLst>
                </a:gridCol>
                <a:gridCol w="1927859">
                  <a:extLst>
                    <a:ext uri="{9D8B030D-6E8A-4147-A177-3AD203B41FA5}">
                      <a16:colId xmlns:a16="http://schemas.microsoft.com/office/drawing/2014/main" val="592988978"/>
                    </a:ext>
                  </a:extLst>
                </a:gridCol>
                <a:gridCol w="2901526">
                  <a:extLst>
                    <a:ext uri="{9D8B030D-6E8A-4147-A177-3AD203B41FA5}">
                      <a16:colId xmlns:a16="http://schemas.microsoft.com/office/drawing/2014/main" val="687724284"/>
                    </a:ext>
                  </a:extLst>
                </a:gridCol>
              </a:tblGrid>
              <a:tr h="504825">
                <a:tc>
                  <a:txBody>
                    <a:bodyPr/>
                    <a:lstStyle/>
                    <a:p>
                      <a:pPr fontAlgn="base">
                        <a:lnSpc>
                          <a:spcPts val="2025"/>
                        </a:lnSpc>
                        <a:buNone/>
                      </a:pPr>
                      <a:r>
                        <a:rPr lang="en-US" sz="1700" b="0">
                          <a:solidFill>
                            <a:srgbClr val="FFFFFF"/>
                          </a:solidFill>
                          <a:effectLst/>
                          <a:latin typeface="Aptos" panose="020B0004020202020204" pitchFamily="34" charset="0"/>
                        </a:rPr>
                        <a:t>Model</a:t>
                      </a:r>
                      <a:endParaRPr lang="en-US" b="1">
                        <a:solidFill>
                          <a:srgbClr val="FFFFFF"/>
                        </a:solidFill>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fontAlgn="base">
                        <a:lnSpc>
                          <a:spcPts val="2025"/>
                        </a:lnSpc>
                        <a:buNone/>
                      </a:pPr>
                      <a:r>
                        <a:rPr lang="en-US" sz="1700" b="0">
                          <a:solidFill>
                            <a:srgbClr val="FFFFFF"/>
                          </a:solidFill>
                          <a:effectLst/>
                          <a:latin typeface="Aptos" panose="020B0004020202020204" pitchFamily="34" charset="0"/>
                        </a:rPr>
                        <a:t>RMSE</a:t>
                      </a:r>
                      <a:endParaRPr lang="en-US" b="1">
                        <a:solidFill>
                          <a:srgbClr val="FFFFFF"/>
                        </a:solidFill>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fontAlgn="base">
                        <a:lnSpc>
                          <a:spcPts val="2025"/>
                        </a:lnSpc>
                        <a:buNone/>
                      </a:pPr>
                      <a:r>
                        <a:rPr lang="en-US" sz="1700" b="0">
                          <a:solidFill>
                            <a:srgbClr val="FFFFFF"/>
                          </a:solidFill>
                          <a:effectLst/>
                          <a:latin typeface="Aptos" panose="020B0004020202020204" pitchFamily="34" charset="0"/>
                        </a:rPr>
                        <a:t>MAE</a:t>
                      </a:r>
                      <a:endParaRPr lang="en-US" b="1">
                        <a:solidFill>
                          <a:srgbClr val="FFFFFF"/>
                        </a:solidFill>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fontAlgn="base">
                        <a:lnSpc>
                          <a:spcPts val="2025"/>
                        </a:lnSpc>
                        <a:buNone/>
                      </a:pPr>
                      <a:r>
                        <a:rPr lang="en-US" sz="1700" b="0">
                          <a:solidFill>
                            <a:srgbClr val="FFFFFF"/>
                          </a:solidFill>
                          <a:effectLst/>
                          <a:latin typeface="Aptos" panose="020B0004020202020204" pitchFamily="34" charset="0"/>
                        </a:rPr>
                        <a:t>MAPE</a:t>
                      </a:r>
                      <a:endParaRPr lang="en-US" b="1">
                        <a:solidFill>
                          <a:srgbClr val="FFFFFF"/>
                        </a:solidFill>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fontAlgn="base">
                        <a:lnSpc>
                          <a:spcPts val="2025"/>
                        </a:lnSpc>
                        <a:buNone/>
                      </a:pPr>
                      <a:r>
                        <a:rPr lang="en-US" sz="1700" b="0">
                          <a:solidFill>
                            <a:srgbClr val="FFFFFF"/>
                          </a:solidFill>
                          <a:effectLst/>
                          <a:latin typeface="Aptos" panose="020B0004020202020204" pitchFamily="34" charset="0"/>
                        </a:rPr>
                        <a:t>Comments</a:t>
                      </a:r>
                      <a:endParaRPr lang="en-US" b="1">
                        <a:solidFill>
                          <a:srgbClr val="FFFFFF"/>
                        </a:solidFill>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210322393"/>
                  </a:ext>
                </a:extLst>
              </a:tr>
              <a:tr h="1133475">
                <a:tc>
                  <a:txBody>
                    <a:bodyPr/>
                    <a:lstStyle/>
                    <a:p>
                      <a:pPr fontAlgn="base">
                        <a:lnSpc>
                          <a:spcPts val="1800"/>
                        </a:lnSpc>
                        <a:buNone/>
                      </a:pPr>
                      <a:r>
                        <a:rPr lang="en-US" sz="1500">
                          <a:effectLst/>
                          <a:latin typeface="Aptos" panose="020B0004020202020204" pitchFamily="34" charset="0"/>
                        </a:rPr>
                        <a:t>ARIMA</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fontAlgn="base">
                        <a:lnSpc>
                          <a:spcPts val="1800"/>
                        </a:lnSpc>
                        <a:buNone/>
                      </a:pPr>
                      <a:r>
                        <a:rPr lang="en-US" sz="1500">
                          <a:effectLst/>
                          <a:latin typeface="Aptos" panose="020B0004020202020204" pitchFamily="34" charset="0"/>
                        </a:rPr>
                        <a:t>281</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fontAlgn="base">
                        <a:lnSpc>
                          <a:spcPts val="1800"/>
                        </a:lnSpc>
                        <a:buNone/>
                      </a:pPr>
                      <a:r>
                        <a:rPr lang="en-US" sz="1500">
                          <a:effectLst/>
                          <a:latin typeface="Aptos" panose="020B0004020202020204" pitchFamily="34" charset="0"/>
                        </a:rPr>
                        <a:t>188</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fontAlgn="base">
                        <a:lnSpc>
                          <a:spcPts val="1800"/>
                        </a:lnSpc>
                        <a:buNone/>
                      </a:pPr>
                      <a:r>
                        <a:rPr lang="en-US" sz="1500">
                          <a:effectLst/>
                          <a:latin typeface="Aptos" panose="020B0004020202020204" pitchFamily="34" charset="0"/>
                        </a:rPr>
                        <a:t>17.9%</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fontAlgn="base">
                        <a:lnSpc>
                          <a:spcPts val="1800"/>
                        </a:lnSpc>
                        <a:buNone/>
                      </a:pPr>
                      <a:r>
                        <a:rPr lang="en-US" sz="1500">
                          <a:effectLst/>
                          <a:latin typeface="Aptos" panose="020B0004020202020204" pitchFamily="34" charset="0"/>
                        </a:rPr>
                        <a:t>Good for trend, misses clear seasonality</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91282012"/>
                  </a:ext>
                </a:extLst>
              </a:tr>
              <a:tr h="1133475">
                <a:tc>
                  <a:txBody>
                    <a:bodyPr/>
                    <a:lstStyle/>
                    <a:p>
                      <a:pPr fontAlgn="base">
                        <a:lnSpc>
                          <a:spcPts val="1800"/>
                        </a:lnSpc>
                        <a:buNone/>
                      </a:pPr>
                      <a:r>
                        <a:rPr lang="en-US" sz="1500">
                          <a:effectLst/>
                          <a:latin typeface="Aptos" panose="020B0004020202020204" pitchFamily="34" charset="0"/>
                        </a:rPr>
                        <a:t>SARIMA</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800"/>
                        </a:lnSpc>
                        <a:buNone/>
                      </a:pPr>
                      <a:r>
                        <a:rPr lang="en-US" sz="1500">
                          <a:effectLst/>
                          <a:latin typeface="Aptos" panose="020B0004020202020204" pitchFamily="34" charset="0"/>
                        </a:rPr>
                        <a:t>210</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800"/>
                        </a:lnSpc>
                        <a:buNone/>
                      </a:pPr>
                      <a:r>
                        <a:rPr lang="en-US" sz="1500">
                          <a:effectLst/>
                          <a:latin typeface="Aptos" panose="020B0004020202020204" pitchFamily="34" charset="0"/>
                        </a:rPr>
                        <a:t>142</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800"/>
                        </a:lnSpc>
                        <a:buNone/>
                      </a:pPr>
                      <a:r>
                        <a:rPr lang="en-US" sz="1500">
                          <a:effectLst/>
                          <a:latin typeface="Aptos" panose="020B0004020202020204" pitchFamily="34" charset="0"/>
                        </a:rPr>
                        <a:t>12.8%</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800"/>
                        </a:lnSpc>
                        <a:buNone/>
                      </a:pPr>
                      <a:r>
                        <a:rPr lang="en-US" sz="1500">
                          <a:effectLst/>
                          <a:latin typeface="Aptos" panose="020B0004020202020204" pitchFamily="34" charset="0"/>
                        </a:rPr>
                        <a:t>Captures seasonality, best for campaigns</a:t>
                      </a:r>
                      <a:endParaRPr lang="en-US">
                        <a:effectLst/>
                      </a:endParaRPr>
                    </a:p>
                  </a:txBody>
                  <a:tcPr marL="92954" marR="92954" marT="111547" marB="9295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33833097"/>
                  </a:ext>
                </a:extLst>
              </a:tr>
            </a:tbl>
          </a:graphicData>
        </a:graphic>
      </p:graphicFrame>
    </p:spTree>
    <p:extLst>
      <p:ext uri="{BB962C8B-B14F-4D97-AF65-F5344CB8AC3E}">
        <p14:creationId xmlns:p14="http://schemas.microsoft.com/office/powerpoint/2010/main" val="1613667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AE2C8-F1A2-7433-A790-D36F42345452}"/>
              </a:ext>
            </a:extLst>
          </p:cNvPr>
          <p:cNvSpPr>
            <a:spLocks noGrp="1"/>
          </p:cNvSpPr>
          <p:nvPr>
            <p:ph type="title"/>
          </p:nvPr>
        </p:nvSpPr>
        <p:spPr/>
        <p:txBody>
          <a:bodyPr/>
          <a:lstStyle/>
          <a:p>
            <a:r>
              <a:rPr lang="en-US" dirty="0"/>
              <a:t>Visualization &amp; Insights</a:t>
            </a:r>
          </a:p>
          <a:p>
            <a:endParaRPr lang="en-US" dirty="0"/>
          </a:p>
        </p:txBody>
      </p:sp>
      <p:pic>
        <p:nvPicPr>
          <p:cNvPr id="4" name="Content Placeholder 3">
            <a:extLst>
              <a:ext uri="{FF2B5EF4-FFF2-40B4-BE49-F238E27FC236}">
                <a16:creationId xmlns:a16="http://schemas.microsoft.com/office/drawing/2014/main" id="{DB12CF65-A12A-66F1-67E4-DA35B6A1FA1C}"/>
              </a:ext>
            </a:extLst>
          </p:cNvPr>
          <p:cNvPicPr>
            <a:picLocks noGrp="1" noChangeAspect="1"/>
          </p:cNvPicPr>
          <p:nvPr>
            <p:ph idx="1"/>
          </p:nvPr>
        </p:nvPicPr>
        <p:blipFill>
          <a:blip r:embed="rId2"/>
          <a:stretch>
            <a:fillRect/>
          </a:stretch>
        </p:blipFill>
        <p:spPr>
          <a:xfrm>
            <a:off x="527741" y="2066683"/>
            <a:ext cx="3052694" cy="3891308"/>
          </a:xfrm>
          <a:prstGeom prst="rect">
            <a:avLst/>
          </a:prstGeom>
        </p:spPr>
      </p:pic>
      <p:pic>
        <p:nvPicPr>
          <p:cNvPr id="5" name="Picture 4">
            <a:extLst>
              <a:ext uri="{FF2B5EF4-FFF2-40B4-BE49-F238E27FC236}">
                <a16:creationId xmlns:a16="http://schemas.microsoft.com/office/drawing/2014/main" id="{2983B739-3C86-F918-446A-D08315B3C6A1}"/>
              </a:ext>
            </a:extLst>
          </p:cNvPr>
          <p:cNvPicPr>
            <a:picLocks noChangeAspect="1"/>
          </p:cNvPicPr>
          <p:nvPr/>
        </p:nvPicPr>
        <p:blipFill>
          <a:blip r:embed="rId3"/>
          <a:stretch>
            <a:fillRect/>
          </a:stretch>
        </p:blipFill>
        <p:spPr>
          <a:xfrm>
            <a:off x="3987248" y="3258103"/>
            <a:ext cx="3886200" cy="2705100"/>
          </a:xfrm>
          <a:prstGeom prst="rect">
            <a:avLst/>
          </a:prstGeom>
        </p:spPr>
      </p:pic>
      <p:pic>
        <p:nvPicPr>
          <p:cNvPr id="7" name="Picture 6">
            <a:extLst>
              <a:ext uri="{FF2B5EF4-FFF2-40B4-BE49-F238E27FC236}">
                <a16:creationId xmlns:a16="http://schemas.microsoft.com/office/drawing/2014/main" id="{56FF5597-433E-32DA-A8BA-3C77F8AB518E}"/>
              </a:ext>
            </a:extLst>
          </p:cNvPr>
          <p:cNvPicPr>
            <a:picLocks noChangeAspect="1"/>
          </p:cNvPicPr>
          <p:nvPr/>
        </p:nvPicPr>
        <p:blipFill>
          <a:blip r:embed="rId4"/>
          <a:stretch>
            <a:fillRect/>
          </a:stretch>
        </p:blipFill>
        <p:spPr>
          <a:xfrm>
            <a:off x="8035649" y="3255066"/>
            <a:ext cx="3829050" cy="2667000"/>
          </a:xfrm>
          <a:prstGeom prst="rect">
            <a:avLst/>
          </a:prstGeom>
        </p:spPr>
      </p:pic>
    </p:spTree>
    <p:extLst>
      <p:ext uri="{BB962C8B-B14F-4D97-AF65-F5344CB8AC3E}">
        <p14:creationId xmlns:p14="http://schemas.microsoft.com/office/powerpoint/2010/main" val="129042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24D3-8B9E-4428-DE72-DFD35F769558}"/>
              </a:ext>
            </a:extLst>
          </p:cNvPr>
          <p:cNvSpPr>
            <a:spLocks noGrp="1"/>
          </p:cNvSpPr>
          <p:nvPr>
            <p:ph type="title"/>
          </p:nvPr>
        </p:nvSpPr>
        <p:spPr/>
        <p:txBody>
          <a:bodyPr/>
          <a:lstStyle/>
          <a:p>
            <a:r>
              <a:rPr lang="en-US" dirty="0"/>
              <a:t>Visualization &amp; Insights</a:t>
            </a:r>
          </a:p>
          <a:p>
            <a:endParaRPr lang="en-US" dirty="0"/>
          </a:p>
        </p:txBody>
      </p:sp>
      <p:pic>
        <p:nvPicPr>
          <p:cNvPr id="4" name="Content Placeholder 3" descr="A graph with green lines&#10;&#10;AI-generated content may be incorrect.">
            <a:extLst>
              <a:ext uri="{FF2B5EF4-FFF2-40B4-BE49-F238E27FC236}">
                <a16:creationId xmlns:a16="http://schemas.microsoft.com/office/drawing/2014/main" id="{1D576706-543A-001A-CB66-8E49C4FB4FDD}"/>
              </a:ext>
            </a:extLst>
          </p:cNvPr>
          <p:cNvPicPr>
            <a:picLocks noGrp="1" noChangeAspect="1"/>
          </p:cNvPicPr>
          <p:nvPr>
            <p:ph idx="1"/>
          </p:nvPr>
        </p:nvPicPr>
        <p:blipFill>
          <a:blip r:embed="rId2"/>
          <a:stretch>
            <a:fillRect/>
          </a:stretch>
        </p:blipFill>
        <p:spPr>
          <a:xfrm>
            <a:off x="643618" y="1218633"/>
            <a:ext cx="3829050" cy="2647950"/>
          </a:xfrm>
          <a:prstGeom prst="rect">
            <a:avLst/>
          </a:prstGeom>
        </p:spPr>
      </p:pic>
      <p:pic>
        <p:nvPicPr>
          <p:cNvPr id="5" name="Picture 4">
            <a:extLst>
              <a:ext uri="{FF2B5EF4-FFF2-40B4-BE49-F238E27FC236}">
                <a16:creationId xmlns:a16="http://schemas.microsoft.com/office/drawing/2014/main" id="{E06D4DB0-79C8-056D-6AFC-004D778C6D43}"/>
              </a:ext>
            </a:extLst>
          </p:cNvPr>
          <p:cNvPicPr>
            <a:picLocks noChangeAspect="1"/>
          </p:cNvPicPr>
          <p:nvPr/>
        </p:nvPicPr>
        <p:blipFill>
          <a:blip r:embed="rId3"/>
          <a:stretch>
            <a:fillRect/>
          </a:stretch>
        </p:blipFill>
        <p:spPr>
          <a:xfrm>
            <a:off x="7403646" y="1216479"/>
            <a:ext cx="3829050" cy="3009900"/>
          </a:xfrm>
          <a:prstGeom prst="rect">
            <a:avLst/>
          </a:prstGeom>
        </p:spPr>
      </p:pic>
      <p:pic>
        <p:nvPicPr>
          <p:cNvPr id="6" name="Picture 5">
            <a:extLst>
              <a:ext uri="{FF2B5EF4-FFF2-40B4-BE49-F238E27FC236}">
                <a16:creationId xmlns:a16="http://schemas.microsoft.com/office/drawing/2014/main" id="{29C179F2-E82C-4A12-FBFE-A56817FC4632}"/>
              </a:ext>
            </a:extLst>
          </p:cNvPr>
          <p:cNvPicPr>
            <a:picLocks noChangeAspect="1"/>
          </p:cNvPicPr>
          <p:nvPr/>
        </p:nvPicPr>
        <p:blipFill>
          <a:blip r:embed="rId4"/>
          <a:stretch>
            <a:fillRect/>
          </a:stretch>
        </p:blipFill>
        <p:spPr>
          <a:xfrm>
            <a:off x="527957" y="3848100"/>
            <a:ext cx="4038600" cy="2667000"/>
          </a:xfrm>
          <a:prstGeom prst="rect">
            <a:avLst/>
          </a:prstGeom>
        </p:spPr>
      </p:pic>
    </p:spTree>
    <p:extLst>
      <p:ext uri="{BB962C8B-B14F-4D97-AF65-F5344CB8AC3E}">
        <p14:creationId xmlns:p14="http://schemas.microsoft.com/office/powerpoint/2010/main" val="3822561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CED11-91C0-054B-5564-0D80AC241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A1A64-E39E-AF04-A529-562EAB89037E}"/>
              </a:ext>
            </a:extLst>
          </p:cNvPr>
          <p:cNvSpPr>
            <a:spLocks noGrp="1"/>
          </p:cNvSpPr>
          <p:nvPr>
            <p:ph type="title"/>
          </p:nvPr>
        </p:nvSpPr>
        <p:spPr/>
        <p:txBody>
          <a:bodyPr/>
          <a:lstStyle/>
          <a:p>
            <a:r>
              <a:rPr lang="en-US" dirty="0"/>
              <a:t>Visualization &amp; Insights</a:t>
            </a:r>
            <a:endParaRPr lang="en-US"/>
          </a:p>
          <a:p>
            <a:endParaRPr lang="en-US" dirty="0"/>
          </a:p>
        </p:txBody>
      </p:sp>
      <p:pic>
        <p:nvPicPr>
          <p:cNvPr id="4" name="Content Placeholder 3" descr="A screenshot of a graph&#10;&#10;AI-generated content may be incorrect.">
            <a:extLst>
              <a:ext uri="{FF2B5EF4-FFF2-40B4-BE49-F238E27FC236}">
                <a16:creationId xmlns:a16="http://schemas.microsoft.com/office/drawing/2014/main" id="{93F5EDD7-EC1F-A761-ABD3-8246E46423D9}"/>
              </a:ext>
            </a:extLst>
          </p:cNvPr>
          <p:cNvPicPr>
            <a:picLocks noGrp="1" noChangeAspect="1"/>
          </p:cNvPicPr>
          <p:nvPr>
            <p:ph idx="1"/>
          </p:nvPr>
        </p:nvPicPr>
        <p:blipFill>
          <a:blip r:embed="rId2"/>
          <a:stretch>
            <a:fillRect/>
          </a:stretch>
        </p:blipFill>
        <p:spPr>
          <a:xfrm>
            <a:off x="632608" y="1477282"/>
            <a:ext cx="4830784" cy="4351338"/>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F24BF0CE-EC97-1B66-E30F-DB340FAF3B88}"/>
              </a:ext>
            </a:extLst>
          </p:cNvPr>
          <p:cNvPicPr>
            <a:picLocks noChangeAspect="1"/>
          </p:cNvPicPr>
          <p:nvPr/>
        </p:nvPicPr>
        <p:blipFill>
          <a:blip r:embed="rId3"/>
          <a:stretch>
            <a:fillRect/>
          </a:stretch>
        </p:blipFill>
        <p:spPr>
          <a:xfrm>
            <a:off x="5842026" y="1578428"/>
            <a:ext cx="5885490" cy="4136572"/>
          </a:xfrm>
          <a:prstGeom prst="rect">
            <a:avLst/>
          </a:prstGeom>
        </p:spPr>
      </p:pic>
    </p:spTree>
    <p:extLst>
      <p:ext uri="{BB962C8B-B14F-4D97-AF65-F5344CB8AC3E}">
        <p14:creationId xmlns:p14="http://schemas.microsoft.com/office/powerpoint/2010/main" val="3001217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BD03F-9DCB-3B8B-C036-66BF0C684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DADB6-3FE0-F8AB-0221-AAE77FBDD326}"/>
              </a:ext>
            </a:extLst>
          </p:cNvPr>
          <p:cNvSpPr>
            <a:spLocks noGrp="1"/>
          </p:cNvSpPr>
          <p:nvPr>
            <p:ph type="title"/>
          </p:nvPr>
        </p:nvSpPr>
        <p:spPr/>
        <p:txBody>
          <a:bodyPr/>
          <a:lstStyle/>
          <a:p>
            <a:r>
              <a:rPr lang="en-US" dirty="0"/>
              <a:t>Visualization &amp; Insights</a:t>
            </a:r>
            <a:endParaRPr lang="en-US"/>
          </a:p>
          <a:p>
            <a:endParaRPr lang="en-US" dirty="0"/>
          </a:p>
        </p:txBody>
      </p:sp>
      <p:pic>
        <p:nvPicPr>
          <p:cNvPr id="4" name="Content Placeholder 3" descr="A group of graphs with different colored lines&#10;&#10;AI-generated content may be incorrect.">
            <a:extLst>
              <a:ext uri="{FF2B5EF4-FFF2-40B4-BE49-F238E27FC236}">
                <a16:creationId xmlns:a16="http://schemas.microsoft.com/office/drawing/2014/main" id="{F7613D6B-0D08-F6F6-875B-C8C685D35959}"/>
              </a:ext>
            </a:extLst>
          </p:cNvPr>
          <p:cNvPicPr>
            <a:picLocks noGrp="1" noChangeAspect="1"/>
          </p:cNvPicPr>
          <p:nvPr>
            <p:ph idx="1"/>
          </p:nvPr>
        </p:nvPicPr>
        <p:blipFill>
          <a:blip r:embed="rId2"/>
          <a:stretch>
            <a:fillRect/>
          </a:stretch>
        </p:blipFill>
        <p:spPr>
          <a:xfrm>
            <a:off x="523547" y="1715294"/>
            <a:ext cx="5767363" cy="4114800"/>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72A57F7F-D04B-1EF5-4E29-9DB3CB04F8AB}"/>
              </a:ext>
            </a:extLst>
          </p:cNvPr>
          <p:cNvPicPr>
            <a:picLocks noChangeAspect="1"/>
          </p:cNvPicPr>
          <p:nvPr/>
        </p:nvPicPr>
        <p:blipFill>
          <a:blip r:embed="rId3"/>
          <a:stretch>
            <a:fillRect/>
          </a:stretch>
        </p:blipFill>
        <p:spPr>
          <a:xfrm>
            <a:off x="6296705" y="1839686"/>
            <a:ext cx="5781675" cy="4114800"/>
          </a:xfrm>
          <a:prstGeom prst="rect">
            <a:avLst/>
          </a:prstGeom>
        </p:spPr>
      </p:pic>
    </p:spTree>
    <p:extLst>
      <p:ext uri="{BB962C8B-B14F-4D97-AF65-F5344CB8AC3E}">
        <p14:creationId xmlns:p14="http://schemas.microsoft.com/office/powerpoint/2010/main" val="1303659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76E2C-4F81-6001-3B5B-F4B43DC6770B}"/>
              </a:ext>
            </a:extLst>
          </p:cNvPr>
          <p:cNvSpPr>
            <a:spLocks noGrp="1"/>
          </p:cNvSpPr>
          <p:nvPr>
            <p:ph type="title"/>
          </p:nvPr>
        </p:nvSpPr>
        <p:spPr/>
        <p:txBody>
          <a:bodyPr/>
          <a:lstStyle/>
          <a:p>
            <a:r>
              <a:rPr lang="en-US" dirty="0"/>
              <a:t>Visualization &amp; Insights</a:t>
            </a:r>
          </a:p>
          <a:p>
            <a:endParaRPr lang="en-US" dirty="0"/>
          </a:p>
        </p:txBody>
      </p:sp>
      <p:pic>
        <p:nvPicPr>
          <p:cNvPr id="4" name="Content Placeholder 3" descr="A graph with blue dots and lines&#10;&#10;AI-generated content may be incorrect.">
            <a:extLst>
              <a:ext uri="{FF2B5EF4-FFF2-40B4-BE49-F238E27FC236}">
                <a16:creationId xmlns:a16="http://schemas.microsoft.com/office/drawing/2014/main" id="{E125ABBD-791F-92DF-D3D6-3EF1C840A32E}"/>
              </a:ext>
            </a:extLst>
          </p:cNvPr>
          <p:cNvPicPr>
            <a:picLocks noGrp="1" noChangeAspect="1"/>
          </p:cNvPicPr>
          <p:nvPr>
            <p:ph idx="1"/>
          </p:nvPr>
        </p:nvPicPr>
        <p:blipFill>
          <a:blip r:embed="rId2"/>
          <a:stretch>
            <a:fillRect/>
          </a:stretch>
        </p:blipFill>
        <p:spPr>
          <a:xfrm>
            <a:off x="1450521" y="1682637"/>
            <a:ext cx="9661071" cy="4016828"/>
          </a:xfrm>
          <a:prstGeom prst="rect">
            <a:avLst/>
          </a:prstGeom>
        </p:spPr>
      </p:pic>
    </p:spTree>
    <p:extLst>
      <p:ext uri="{BB962C8B-B14F-4D97-AF65-F5344CB8AC3E}">
        <p14:creationId xmlns:p14="http://schemas.microsoft.com/office/powerpoint/2010/main" val="1739286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C9140-3D74-6EB5-1406-65B7F7ADB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3B960-7849-BD75-D59D-5B3200123726}"/>
              </a:ext>
            </a:extLst>
          </p:cNvPr>
          <p:cNvSpPr>
            <a:spLocks noGrp="1"/>
          </p:cNvSpPr>
          <p:nvPr>
            <p:ph type="title"/>
          </p:nvPr>
        </p:nvSpPr>
        <p:spPr/>
        <p:txBody>
          <a:bodyPr/>
          <a:lstStyle/>
          <a:p>
            <a:r>
              <a:rPr lang="en-US" dirty="0"/>
              <a:t>Visualization &amp; Insights</a:t>
            </a:r>
          </a:p>
          <a:p>
            <a:endParaRPr lang="en-US" dirty="0"/>
          </a:p>
        </p:txBody>
      </p:sp>
      <p:pic>
        <p:nvPicPr>
          <p:cNvPr id="8" name="Picture 7" descr="A black background with white squares&#10;&#10;AI-generated content may be incorrect.">
            <a:extLst>
              <a:ext uri="{FF2B5EF4-FFF2-40B4-BE49-F238E27FC236}">
                <a16:creationId xmlns:a16="http://schemas.microsoft.com/office/drawing/2014/main" id="{19236CC0-FBED-0277-22AB-7D892132EC35}"/>
              </a:ext>
            </a:extLst>
          </p:cNvPr>
          <p:cNvPicPr>
            <a:picLocks noChangeAspect="1"/>
          </p:cNvPicPr>
          <p:nvPr/>
        </p:nvPicPr>
        <p:blipFill>
          <a:blip r:embed="rId2"/>
          <a:stretch>
            <a:fillRect/>
          </a:stretch>
        </p:blipFill>
        <p:spPr>
          <a:xfrm>
            <a:off x="681038" y="1185182"/>
            <a:ext cx="10829925" cy="5467350"/>
          </a:xfrm>
          <a:prstGeom prst="rect">
            <a:avLst/>
          </a:prstGeom>
        </p:spPr>
      </p:pic>
    </p:spTree>
    <p:extLst>
      <p:ext uri="{BB962C8B-B14F-4D97-AF65-F5344CB8AC3E}">
        <p14:creationId xmlns:p14="http://schemas.microsoft.com/office/powerpoint/2010/main" val="6012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1F836-7E1F-4EA1-2521-0B14C8492CE5}"/>
              </a:ext>
            </a:extLst>
          </p:cNvPr>
          <p:cNvSpPr>
            <a:spLocks noGrp="1"/>
          </p:cNvSpPr>
          <p:nvPr>
            <p:ph type="title"/>
          </p:nvPr>
        </p:nvSpPr>
        <p:spPr/>
        <p:txBody>
          <a:bodyPr/>
          <a:lstStyle/>
          <a:p>
            <a:r>
              <a:rPr lang="en-US" dirty="0"/>
              <a:t>Visualization &amp; Insights</a:t>
            </a:r>
          </a:p>
          <a:p>
            <a:endParaRPr lang="en-US" dirty="0"/>
          </a:p>
        </p:txBody>
      </p:sp>
      <p:pic>
        <p:nvPicPr>
          <p:cNvPr id="4" name="Content Placeholder 3" descr="A graph with blue dots and lines&#10;&#10;AI-generated content may be incorrect.">
            <a:extLst>
              <a:ext uri="{FF2B5EF4-FFF2-40B4-BE49-F238E27FC236}">
                <a16:creationId xmlns:a16="http://schemas.microsoft.com/office/drawing/2014/main" id="{ABD7462D-3C1F-E445-996E-738CF0A69AE6}"/>
              </a:ext>
            </a:extLst>
          </p:cNvPr>
          <p:cNvPicPr>
            <a:picLocks noGrp="1" noChangeAspect="1"/>
          </p:cNvPicPr>
          <p:nvPr>
            <p:ph idx="1"/>
          </p:nvPr>
        </p:nvPicPr>
        <p:blipFill>
          <a:blip r:embed="rId2"/>
          <a:stretch>
            <a:fillRect/>
          </a:stretch>
        </p:blipFill>
        <p:spPr>
          <a:xfrm>
            <a:off x="2042294" y="1927329"/>
            <a:ext cx="8115300" cy="3352800"/>
          </a:xfrm>
          <a:prstGeom prst="rect">
            <a:avLst/>
          </a:prstGeom>
        </p:spPr>
      </p:pic>
    </p:spTree>
    <p:extLst>
      <p:ext uri="{BB962C8B-B14F-4D97-AF65-F5344CB8AC3E}">
        <p14:creationId xmlns:p14="http://schemas.microsoft.com/office/powerpoint/2010/main" val="1966041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CB24D1-6E12-B9FD-D2DC-DE185A9CAD9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Business Insight &amp; Decision Support</a:t>
            </a:r>
          </a:p>
          <a:p>
            <a:pPr algn="r"/>
            <a:endParaRPr lang="en-US" sz="4000">
              <a:solidFill>
                <a:srgbClr val="FFFFFF"/>
              </a:solidFill>
            </a:endParaRPr>
          </a:p>
        </p:txBody>
      </p:sp>
      <p:sp>
        <p:nvSpPr>
          <p:cNvPr id="490" name="Content Placeholder 489">
            <a:extLst>
              <a:ext uri="{FF2B5EF4-FFF2-40B4-BE49-F238E27FC236}">
                <a16:creationId xmlns:a16="http://schemas.microsoft.com/office/drawing/2014/main" id="{0BDC4D44-0DAE-671E-34A3-51B9F44FB92C}"/>
              </a:ext>
            </a:extLst>
          </p:cNvPr>
          <p:cNvSpPr>
            <a:spLocks noGrp="1"/>
          </p:cNvSpPr>
          <p:nvPr>
            <p:ph idx="1"/>
          </p:nvPr>
        </p:nvSpPr>
        <p:spPr>
          <a:xfrm>
            <a:off x="4147457" y="1237796"/>
            <a:ext cx="8044543" cy="4373109"/>
          </a:xfrm>
        </p:spPr>
        <p:txBody>
          <a:bodyPr vert="horz" lIns="91440" tIns="45720" rIns="91440" bIns="45720" rtlCol="0" anchor="t">
            <a:normAutofit/>
          </a:bodyPr>
          <a:lstStyle/>
          <a:p>
            <a:pPr marL="0" indent="0">
              <a:buNone/>
            </a:pPr>
            <a:r>
              <a:rPr lang="en-US" sz="1500" b="1" dirty="0">
                <a:ea typeface="+mn-lt"/>
                <a:cs typeface="+mn-lt"/>
              </a:rPr>
              <a:t>1. Focus on Deep Researcher Identification and Retention</a:t>
            </a:r>
            <a:endParaRPr lang="en-US" sz="1500" dirty="0">
              <a:ea typeface="+mn-lt"/>
              <a:cs typeface="+mn-lt"/>
            </a:endParaRPr>
          </a:p>
          <a:p>
            <a:r>
              <a:rPr lang="en-US" sz="1500" dirty="0">
                <a:ea typeface="+mn-lt"/>
                <a:cs typeface="+mn-lt"/>
              </a:rPr>
              <a:t> Deep Researchers represent the highest value segment with 11x higher revenue per session than Browsers. Businesses should:</a:t>
            </a:r>
          </a:p>
          <a:p>
            <a:r>
              <a:rPr lang="en-US" sz="1500" dirty="0">
                <a:ea typeface="+mn-lt"/>
                <a:cs typeface="+mn-lt"/>
              </a:rPr>
              <a:t>Develop early identification systems based on initial session behavior</a:t>
            </a:r>
          </a:p>
          <a:p>
            <a:r>
              <a:rPr lang="en-US" sz="1500" dirty="0">
                <a:ea typeface="+mn-lt"/>
                <a:cs typeface="+mn-lt"/>
              </a:rPr>
              <a:t>Create personalized experiences for high-engagement users</a:t>
            </a:r>
          </a:p>
          <a:p>
            <a:r>
              <a:rPr lang="en-US" sz="1500" dirty="0">
                <a:ea typeface="+mn-lt"/>
                <a:cs typeface="+mn-lt"/>
              </a:rPr>
              <a:t>Implement loyalty programs targeting this segment</a:t>
            </a:r>
          </a:p>
          <a:p>
            <a:r>
              <a:rPr lang="en-US" sz="1500" dirty="0">
                <a:ea typeface="+mn-lt"/>
                <a:cs typeface="+mn-lt"/>
              </a:rPr>
              <a:t>Invest in detailed product information and comparison tools</a:t>
            </a:r>
          </a:p>
          <a:p>
            <a:pPr marL="0" indent="0">
              <a:buNone/>
            </a:pPr>
            <a:r>
              <a:rPr lang="en-US" sz="1500" b="1" dirty="0">
                <a:ea typeface="+mn-lt"/>
                <a:cs typeface="+mn-lt"/>
              </a:rPr>
              <a:t>2. Enhance User Engagement</a:t>
            </a:r>
            <a:endParaRPr lang="en-US" sz="1500" dirty="0">
              <a:ea typeface="+mn-lt"/>
              <a:cs typeface="+mn-lt"/>
            </a:endParaRPr>
          </a:p>
          <a:p>
            <a:r>
              <a:rPr lang="en-US" sz="1500" dirty="0">
                <a:ea typeface="+mn-lt"/>
                <a:cs typeface="+mn-lt"/>
              </a:rPr>
              <a:t> The 0.992 correlation between clicks and revenue indicates:</a:t>
            </a:r>
          </a:p>
          <a:p>
            <a:r>
              <a:rPr lang="en-US" sz="1500" dirty="0">
                <a:ea typeface="+mn-lt"/>
                <a:cs typeface="+mn-lt"/>
              </a:rPr>
              <a:t>Increase session depth through related product recommendations</a:t>
            </a:r>
          </a:p>
          <a:p>
            <a:r>
              <a:rPr lang="en-US" sz="1500" dirty="0">
                <a:ea typeface="+mn-lt"/>
                <a:cs typeface="+mn-lt"/>
              </a:rPr>
              <a:t>Improve site navigation to encourage exploration</a:t>
            </a:r>
          </a:p>
          <a:p>
            <a:r>
              <a:rPr lang="en-US" sz="1500" dirty="0">
                <a:ea typeface="+mn-lt"/>
                <a:cs typeface="+mn-lt"/>
              </a:rPr>
              <a:t>Reduce friction in browsing experience</a:t>
            </a:r>
          </a:p>
          <a:p>
            <a:r>
              <a:rPr lang="en-US" sz="1500" dirty="0">
                <a:ea typeface="+mn-lt"/>
                <a:cs typeface="+mn-lt"/>
              </a:rPr>
              <a:t>Implement interactive features to boost engagement</a:t>
            </a:r>
          </a:p>
          <a:p>
            <a:endParaRPr lang="en-US" sz="1500" b="1" dirty="0"/>
          </a:p>
        </p:txBody>
      </p:sp>
    </p:spTree>
    <p:extLst>
      <p:ext uri="{BB962C8B-B14F-4D97-AF65-F5344CB8AC3E}">
        <p14:creationId xmlns:p14="http://schemas.microsoft.com/office/powerpoint/2010/main" val="4014156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6706BB-0495-2EDA-116C-F2C1293F581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3595796-8C14-5C13-FD65-E34F391883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8E0528-4101-09C2-1DB0-1B122AE0D7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30BFFB0-9357-A3E0-5EE0-8EF648DB7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BD85FE6-7634-2792-4852-9E7622FF3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0468C92-9D8F-9605-FC92-37C4ECDD9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F01179F5-B263-9B82-90C2-00349B36B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D7527F-F27A-FE30-08F0-2079BD2F42B1}"/>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Business Insight &amp; Decision Support</a:t>
            </a:r>
          </a:p>
          <a:p>
            <a:pPr algn="r"/>
            <a:endParaRPr lang="en-US" sz="4000">
              <a:solidFill>
                <a:srgbClr val="FFFFFF"/>
              </a:solidFill>
            </a:endParaRPr>
          </a:p>
        </p:txBody>
      </p:sp>
      <p:sp>
        <p:nvSpPr>
          <p:cNvPr id="490" name="Content Placeholder 489">
            <a:extLst>
              <a:ext uri="{FF2B5EF4-FFF2-40B4-BE49-F238E27FC236}">
                <a16:creationId xmlns:a16="http://schemas.microsoft.com/office/drawing/2014/main" id="{B9A05203-550C-3BA6-416E-0494F62640CF}"/>
              </a:ext>
            </a:extLst>
          </p:cNvPr>
          <p:cNvSpPr>
            <a:spLocks noGrp="1"/>
          </p:cNvSpPr>
          <p:nvPr>
            <p:ph idx="1"/>
          </p:nvPr>
        </p:nvSpPr>
        <p:spPr>
          <a:xfrm>
            <a:off x="4147457" y="1237796"/>
            <a:ext cx="8044543" cy="4373109"/>
          </a:xfrm>
        </p:spPr>
        <p:txBody>
          <a:bodyPr vert="horz" lIns="91440" tIns="45720" rIns="91440" bIns="45720" rtlCol="0" anchor="t">
            <a:normAutofit fontScale="55000" lnSpcReduction="20000"/>
          </a:bodyPr>
          <a:lstStyle/>
          <a:p>
            <a:pPr marL="0" indent="0">
              <a:buNone/>
            </a:pPr>
            <a:r>
              <a:rPr lang="en-US" b="1" dirty="0">
                <a:ea typeface="+mn-lt"/>
                <a:cs typeface="+mn-lt"/>
              </a:rPr>
              <a:t>3. Optimize for Different User Types</a:t>
            </a:r>
            <a:endParaRPr lang="en-US" b="1" dirty="0"/>
          </a:p>
          <a:p>
            <a:pPr>
              <a:buNone/>
            </a:pPr>
            <a:r>
              <a:rPr lang="en-US" b="1" dirty="0">
                <a:ea typeface="+mn-lt"/>
                <a:cs typeface="+mn-lt"/>
              </a:rPr>
              <a:t>For Browsers:</a:t>
            </a:r>
            <a:endParaRPr lang="en-US" dirty="0"/>
          </a:p>
          <a:p>
            <a:r>
              <a:rPr lang="en-US" dirty="0">
                <a:ea typeface="+mn-lt"/>
                <a:cs typeface="+mn-lt"/>
              </a:rPr>
              <a:t>Streamline purchase process for quick decisions</a:t>
            </a:r>
            <a:endParaRPr lang="en-US" dirty="0"/>
          </a:p>
          <a:p>
            <a:r>
              <a:rPr lang="en-US" dirty="0">
                <a:ea typeface="+mn-lt"/>
                <a:cs typeface="+mn-lt"/>
              </a:rPr>
              <a:t>Highlight best-sellers and popular items</a:t>
            </a:r>
            <a:endParaRPr lang="en-US" dirty="0"/>
          </a:p>
          <a:p>
            <a:r>
              <a:rPr lang="en-US" dirty="0">
                <a:ea typeface="+mn-lt"/>
                <a:cs typeface="+mn-lt"/>
              </a:rPr>
              <a:t>Implement one-click purchasing options</a:t>
            </a:r>
            <a:endParaRPr lang="en-US" dirty="0"/>
          </a:p>
          <a:p>
            <a:pPr indent="0">
              <a:buNone/>
            </a:pPr>
            <a:r>
              <a:rPr lang="en-US" b="1" dirty="0">
                <a:ea typeface="+mn-lt"/>
                <a:cs typeface="+mn-lt"/>
              </a:rPr>
              <a:t>For Explorers:</a:t>
            </a:r>
            <a:endParaRPr lang="en-US" dirty="0"/>
          </a:p>
          <a:p>
            <a:r>
              <a:rPr lang="en-US" dirty="0">
                <a:ea typeface="+mn-lt"/>
                <a:cs typeface="+mn-lt"/>
              </a:rPr>
              <a:t>Provide curated product collections</a:t>
            </a:r>
            <a:endParaRPr lang="en-US" dirty="0"/>
          </a:p>
          <a:p>
            <a:r>
              <a:rPr lang="en-US" dirty="0">
                <a:ea typeface="+mn-lt"/>
                <a:cs typeface="+mn-lt"/>
              </a:rPr>
              <a:t>Enable easy comparison features</a:t>
            </a:r>
            <a:endParaRPr lang="en-US" dirty="0"/>
          </a:p>
          <a:p>
            <a:r>
              <a:rPr lang="en-US" dirty="0">
                <a:ea typeface="+mn-lt"/>
                <a:cs typeface="+mn-lt"/>
              </a:rPr>
              <a:t>Offer personalized recommendations</a:t>
            </a:r>
            <a:endParaRPr lang="en-US" dirty="0"/>
          </a:p>
          <a:p>
            <a:pPr indent="0">
              <a:buNone/>
            </a:pPr>
            <a:r>
              <a:rPr lang="en-US" b="1" dirty="0">
                <a:ea typeface="+mn-lt"/>
                <a:cs typeface="+mn-lt"/>
              </a:rPr>
              <a:t>For Deep Researchers:</a:t>
            </a:r>
            <a:endParaRPr lang="en-US" dirty="0"/>
          </a:p>
          <a:p>
            <a:r>
              <a:rPr lang="en-US" dirty="0">
                <a:ea typeface="+mn-lt"/>
                <a:cs typeface="+mn-lt"/>
              </a:rPr>
              <a:t>Provide comprehensive product information</a:t>
            </a:r>
            <a:endParaRPr lang="en-US" dirty="0"/>
          </a:p>
          <a:p>
            <a:r>
              <a:rPr lang="en-US" dirty="0">
                <a:ea typeface="+mn-lt"/>
                <a:cs typeface="+mn-lt"/>
              </a:rPr>
              <a:t>Enable detailed filtering and sorting</a:t>
            </a:r>
            <a:endParaRPr lang="en-US" dirty="0"/>
          </a:p>
          <a:p>
            <a:r>
              <a:rPr lang="en-US" dirty="0">
                <a:ea typeface="+mn-lt"/>
                <a:cs typeface="+mn-lt"/>
              </a:rPr>
              <a:t>Offer expert reviews and detailed specifications</a:t>
            </a:r>
            <a:endParaRPr lang="en-US" dirty="0"/>
          </a:p>
          <a:p>
            <a:r>
              <a:rPr lang="en-US" dirty="0">
                <a:ea typeface="+mn-lt"/>
                <a:cs typeface="+mn-lt"/>
              </a:rPr>
              <a:t>Implement advanced search capabilities</a:t>
            </a:r>
            <a:endParaRPr lang="en-US" dirty="0"/>
          </a:p>
          <a:p>
            <a:pPr indent="0">
              <a:buNone/>
            </a:pPr>
            <a:endParaRPr lang="en-US" b="1" dirty="0"/>
          </a:p>
          <a:p>
            <a:pPr marL="0" indent="0">
              <a:buNone/>
            </a:pPr>
            <a:endParaRPr lang="en-US" b="1" dirty="0"/>
          </a:p>
        </p:txBody>
      </p:sp>
    </p:spTree>
    <p:extLst>
      <p:ext uri="{BB962C8B-B14F-4D97-AF65-F5344CB8AC3E}">
        <p14:creationId xmlns:p14="http://schemas.microsoft.com/office/powerpoint/2010/main" val="418638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7A9B23-FAC7-04C4-B73E-20FBDD2FCF20}"/>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B9CEAEB-E2F5-C94F-7860-E10F02A99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A5197FA-17F8-B3BB-1F9B-3B821A891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6466F29-9413-02B8-EF74-168193674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5851CE9-7B64-7C4B-DF8F-9B801CB45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07D23AC5-28C8-63DA-77EA-AE1D51C1D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DF5D80BE-567B-50D8-4511-2A6FA4C32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D49118-9BA3-F025-AE7F-205DE324F33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Business Insight &amp; Decision Support</a:t>
            </a:r>
          </a:p>
          <a:p>
            <a:pPr algn="r"/>
            <a:endParaRPr lang="en-US" sz="4000">
              <a:solidFill>
                <a:srgbClr val="FFFFFF"/>
              </a:solidFill>
            </a:endParaRPr>
          </a:p>
        </p:txBody>
      </p:sp>
      <p:sp>
        <p:nvSpPr>
          <p:cNvPr id="490" name="Content Placeholder 489">
            <a:extLst>
              <a:ext uri="{FF2B5EF4-FFF2-40B4-BE49-F238E27FC236}">
                <a16:creationId xmlns:a16="http://schemas.microsoft.com/office/drawing/2014/main" id="{DCB13799-07A4-1279-FDF9-EC49DB49111F}"/>
              </a:ext>
            </a:extLst>
          </p:cNvPr>
          <p:cNvSpPr>
            <a:spLocks noGrp="1"/>
          </p:cNvSpPr>
          <p:nvPr>
            <p:ph idx="1"/>
          </p:nvPr>
        </p:nvSpPr>
        <p:spPr>
          <a:xfrm>
            <a:off x="4147457" y="1237796"/>
            <a:ext cx="8044543" cy="4373109"/>
          </a:xfrm>
        </p:spPr>
        <p:txBody>
          <a:bodyPr vert="horz" lIns="91440" tIns="45720" rIns="91440" bIns="45720" rtlCol="0" anchor="t">
            <a:normAutofit/>
          </a:bodyPr>
          <a:lstStyle/>
          <a:p>
            <a:pPr indent="0">
              <a:buNone/>
            </a:pPr>
            <a:r>
              <a:rPr lang="en-US" sz="1500" b="1" dirty="0">
                <a:ea typeface="+mn-lt"/>
                <a:cs typeface="+mn-lt"/>
              </a:rPr>
              <a:t>4. Revenue Optimization Strategy</a:t>
            </a:r>
            <a:endParaRPr lang="en-US" sz="1500"/>
          </a:p>
          <a:p>
            <a:pPr>
              <a:buFont typeface="Arial"/>
              <a:buChar char="•"/>
            </a:pPr>
            <a:r>
              <a:rPr lang="en-US" sz="1500" b="1" dirty="0">
                <a:ea typeface="+mn-lt"/>
                <a:cs typeface="+mn-lt"/>
              </a:rPr>
              <a:t>Priority 1:</a:t>
            </a:r>
            <a:r>
              <a:rPr lang="en-US" sz="1500" dirty="0">
                <a:ea typeface="+mn-lt"/>
                <a:cs typeface="+mn-lt"/>
              </a:rPr>
              <a:t> Convert Explorers to Deep Researchers (28.9% of users, potential 3x revenue increase)</a:t>
            </a:r>
          </a:p>
          <a:p>
            <a:pPr>
              <a:buFont typeface="Arial"/>
              <a:buChar char="•"/>
            </a:pPr>
            <a:r>
              <a:rPr lang="en-US" sz="1500" b="1" dirty="0">
                <a:ea typeface="+mn-lt"/>
                <a:cs typeface="+mn-lt"/>
              </a:rPr>
              <a:t>Priority 2:</a:t>
            </a:r>
            <a:r>
              <a:rPr lang="en-US" sz="1500" dirty="0">
                <a:ea typeface="+mn-lt"/>
                <a:cs typeface="+mn-lt"/>
              </a:rPr>
              <a:t> Improve Browser conversion rates (60.8% of users, large volume opportunity)</a:t>
            </a:r>
            <a:endParaRPr lang="en-US" sz="1500"/>
          </a:p>
          <a:p>
            <a:pPr>
              <a:buFont typeface="Arial"/>
            </a:pPr>
            <a:r>
              <a:rPr lang="en-US" sz="1500" b="1" dirty="0">
                <a:ea typeface="+mn-lt"/>
                <a:cs typeface="+mn-lt"/>
              </a:rPr>
              <a:t>Priority 3:</a:t>
            </a:r>
            <a:r>
              <a:rPr lang="en-US" sz="1500" dirty="0">
                <a:ea typeface="+mn-lt"/>
                <a:cs typeface="+mn-lt"/>
              </a:rPr>
              <a:t> Increase Deep Researcher retention (highest value preservation)</a:t>
            </a:r>
            <a:endParaRPr lang="en-US" sz="1500"/>
          </a:p>
        </p:txBody>
      </p:sp>
    </p:spTree>
    <p:extLst>
      <p:ext uri="{BB962C8B-B14F-4D97-AF65-F5344CB8AC3E}">
        <p14:creationId xmlns:p14="http://schemas.microsoft.com/office/powerpoint/2010/main" val="148339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30" name="Oval 29">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0" name="Straight Connector 39">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5" name="Rectangle 44">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48" name="Straight Connector 47">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73B95098-FFEE-8C80-FF78-0AF0FED5C4B8}"/>
              </a:ext>
            </a:extLst>
          </p:cNvPr>
          <p:cNvSpPr>
            <a:spLocks noGrp="1"/>
          </p:cNvSpPr>
          <p:nvPr>
            <p:ph type="title"/>
          </p:nvPr>
        </p:nvSpPr>
        <p:spPr>
          <a:xfrm>
            <a:off x="630936" y="630936"/>
            <a:ext cx="5465064" cy="5626947"/>
          </a:xfrm>
          <a:noFill/>
        </p:spPr>
        <p:txBody>
          <a:bodyPr anchor="ctr">
            <a:normAutofit/>
          </a:bodyPr>
          <a:lstStyle/>
          <a:p>
            <a:r>
              <a:rPr lang="en-US" sz="4800">
                <a:solidFill>
                  <a:schemeClr val="bg1"/>
                </a:solidFill>
              </a:rPr>
              <a:t>Tools &amp; Technologies Used</a:t>
            </a:r>
          </a:p>
          <a:p>
            <a:br>
              <a:rPr lang="en-US" sz="4800">
                <a:solidFill>
                  <a:schemeClr val="bg1"/>
                </a:solidFill>
              </a:rPr>
            </a:br>
            <a:endParaRPr lang="en-US" sz="4800">
              <a:solidFill>
                <a:schemeClr val="bg1"/>
              </a:solidFill>
            </a:endParaRPr>
          </a:p>
        </p:txBody>
      </p:sp>
      <p:sp>
        <p:nvSpPr>
          <p:cNvPr id="24" name="Content Placeholder 2">
            <a:extLst>
              <a:ext uri="{FF2B5EF4-FFF2-40B4-BE49-F238E27FC236}">
                <a16:creationId xmlns:a16="http://schemas.microsoft.com/office/drawing/2014/main" id="{9D2C36CD-C51A-D9A7-B56A-07EA513E2FAC}"/>
              </a:ext>
            </a:extLst>
          </p:cNvPr>
          <p:cNvSpPr>
            <a:spLocks noGrp="1"/>
          </p:cNvSpPr>
          <p:nvPr>
            <p:ph idx="1"/>
          </p:nvPr>
        </p:nvSpPr>
        <p:spPr>
          <a:xfrm>
            <a:off x="6665438" y="1392936"/>
            <a:ext cx="4978592" cy="5626957"/>
          </a:xfrm>
          <a:noFill/>
        </p:spPr>
        <p:txBody>
          <a:bodyPr vert="horz" lIns="91440" tIns="45720" rIns="91440" bIns="45720" rtlCol="0" anchor="ctr">
            <a:normAutofit/>
          </a:bodyPr>
          <a:lstStyle/>
          <a:p>
            <a:pPr marL="0" indent="0">
              <a:buNone/>
            </a:pPr>
            <a:r>
              <a:rPr lang="en-US" sz="1400" b="1" dirty="0">
                <a:solidFill>
                  <a:schemeClr val="bg1"/>
                </a:solidFill>
                <a:ea typeface="+mn-lt"/>
                <a:cs typeface="+mn-lt"/>
              </a:rPr>
              <a:t>Language: Python 3.9.7</a:t>
            </a:r>
            <a:endParaRPr lang="en-US" sz="1400" b="1">
              <a:solidFill>
                <a:schemeClr val="bg1"/>
              </a:solidFill>
            </a:endParaRPr>
          </a:p>
          <a:p>
            <a:pPr>
              <a:buNone/>
            </a:pPr>
            <a:r>
              <a:rPr lang="en-US" sz="1400" dirty="0">
                <a:solidFill>
                  <a:schemeClr val="bg1"/>
                </a:solidFill>
                <a:ea typeface="+mn-lt"/>
                <a:cs typeface="+mn-lt"/>
              </a:rPr>
              <a:t>Data Processing:</a:t>
            </a:r>
            <a:endParaRPr lang="en-US" sz="1400" dirty="0">
              <a:solidFill>
                <a:schemeClr val="bg1"/>
              </a:solidFill>
            </a:endParaRPr>
          </a:p>
          <a:p>
            <a:pPr>
              <a:buNone/>
            </a:pPr>
            <a:r>
              <a:rPr lang="en-US" sz="1400" dirty="0">
                <a:solidFill>
                  <a:schemeClr val="bg1"/>
                </a:solidFill>
                <a:ea typeface="+mn-lt"/>
                <a:cs typeface="+mn-lt"/>
              </a:rPr>
              <a:t>├─ pandas 1.3.3</a:t>
            </a:r>
            <a:endParaRPr lang="en-US" sz="1400" dirty="0">
              <a:solidFill>
                <a:schemeClr val="bg1"/>
              </a:solidFill>
            </a:endParaRPr>
          </a:p>
          <a:p>
            <a:pPr>
              <a:buNone/>
            </a:pPr>
            <a:r>
              <a:rPr lang="en-US" sz="1400" dirty="0">
                <a:solidFill>
                  <a:schemeClr val="bg1"/>
                </a:solidFill>
                <a:ea typeface="+mn-lt"/>
                <a:cs typeface="+mn-lt"/>
              </a:rPr>
              <a:t>├─ </a:t>
            </a:r>
            <a:r>
              <a:rPr lang="en-US" sz="1400" dirty="0" err="1">
                <a:solidFill>
                  <a:schemeClr val="bg1"/>
                </a:solidFill>
                <a:ea typeface="+mn-lt"/>
                <a:cs typeface="+mn-lt"/>
              </a:rPr>
              <a:t>numpy</a:t>
            </a:r>
            <a:r>
              <a:rPr lang="en-US" sz="1400" dirty="0">
                <a:solidFill>
                  <a:schemeClr val="bg1"/>
                </a:solidFill>
                <a:ea typeface="+mn-lt"/>
                <a:cs typeface="+mn-lt"/>
              </a:rPr>
              <a:t> 1.21.2</a:t>
            </a:r>
            <a:endParaRPr lang="en-US" sz="1400" dirty="0">
              <a:solidFill>
                <a:schemeClr val="bg1"/>
              </a:solidFill>
            </a:endParaRPr>
          </a:p>
          <a:p>
            <a:pPr>
              <a:buNone/>
            </a:pPr>
            <a:r>
              <a:rPr lang="en-US" sz="1400" dirty="0">
                <a:solidFill>
                  <a:schemeClr val="bg1"/>
                </a:solidFill>
                <a:ea typeface="+mn-lt"/>
                <a:cs typeface="+mn-lt"/>
              </a:rPr>
              <a:t>└─ </a:t>
            </a:r>
            <a:r>
              <a:rPr lang="en-US" sz="1400" dirty="0" err="1">
                <a:solidFill>
                  <a:schemeClr val="bg1"/>
                </a:solidFill>
                <a:ea typeface="+mn-lt"/>
                <a:cs typeface="+mn-lt"/>
              </a:rPr>
              <a:t>scipy</a:t>
            </a:r>
            <a:endParaRPr lang="en-US" sz="1400" dirty="0">
              <a:solidFill>
                <a:schemeClr val="bg1"/>
              </a:solidFill>
            </a:endParaRPr>
          </a:p>
          <a:p>
            <a:pPr>
              <a:buNone/>
            </a:pPr>
            <a:endParaRPr lang="en-US" sz="1400" dirty="0">
              <a:solidFill>
                <a:schemeClr val="bg1"/>
              </a:solidFill>
            </a:endParaRPr>
          </a:p>
          <a:p>
            <a:pPr>
              <a:buNone/>
            </a:pPr>
            <a:r>
              <a:rPr lang="en-US" sz="1400" b="1" dirty="0">
                <a:solidFill>
                  <a:schemeClr val="bg1"/>
                </a:solidFill>
                <a:ea typeface="+mn-lt"/>
                <a:cs typeface="+mn-lt"/>
              </a:rPr>
              <a:t>Machine Learning:</a:t>
            </a:r>
            <a:endParaRPr lang="en-US" sz="1400" b="1">
              <a:solidFill>
                <a:schemeClr val="bg1"/>
              </a:solidFill>
            </a:endParaRPr>
          </a:p>
          <a:p>
            <a:pPr>
              <a:buNone/>
            </a:pPr>
            <a:r>
              <a:rPr lang="en-US" sz="1400" dirty="0">
                <a:solidFill>
                  <a:schemeClr val="bg1"/>
                </a:solidFill>
                <a:ea typeface="+mn-lt"/>
                <a:cs typeface="+mn-lt"/>
              </a:rPr>
              <a:t>├─ scikit-learn 0.24.2</a:t>
            </a:r>
            <a:endParaRPr lang="en-US" sz="1400" dirty="0">
              <a:solidFill>
                <a:schemeClr val="bg1"/>
              </a:solidFill>
            </a:endParaRPr>
          </a:p>
          <a:p>
            <a:pPr>
              <a:buNone/>
            </a:pPr>
            <a:r>
              <a:rPr lang="en-US" sz="1400" dirty="0">
                <a:solidFill>
                  <a:schemeClr val="bg1"/>
                </a:solidFill>
                <a:ea typeface="+mn-lt"/>
                <a:cs typeface="+mn-lt"/>
              </a:rPr>
              <a:t>│  ├─ Linear Models</a:t>
            </a:r>
            <a:endParaRPr lang="en-US" sz="1400" dirty="0">
              <a:solidFill>
                <a:schemeClr val="bg1"/>
              </a:solidFill>
            </a:endParaRPr>
          </a:p>
          <a:p>
            <a:pPr>
              <a:buNone/>
            </a:pPr>
            <a:r>
              <a:rPr lang="en-US" sz="1400" dirty="0">
                <a:solidFill>
                  <a:schemeClr val="bg1"/>
                </a:solidFill>
                <a:ea typeface="+mn-lt"/>
                <a:cs typeface="+mn-lt"/>
              </a:rPr>
              <a:t>│  ├─ Tree-Based Models</a:t>
            </a:r>
            <a:endParaRPr lang="en-US" sz="1400" dirty="0">
              <a:solidFill>
                <a:schemeClr val="bg1"/>
              </a:solidFill>
            </a:endParaRPr>
          </a:p>
          <a:p>
            <a:pPr>
              <a:buNone/>
            </a:pPr>
            <a:r>
              <a:rPr lang="en-US" sz="1400" dirty="0">
                <a:solidFill>
                  <a:schemeClr val="bg1"/>
                </a:solidFill>
                <a:ea typeface="+mn-lt"/>
                <a:cs typeface="+mn-lt"/>
              </a:rPr>
              <a:t>│  ├─ Ensemble Methods</a:t>
            </a:r>
            <a:endParaRPr lang="en-US" sz="1400" dirty="0">
              <a:solidFill>
                <a:schemeClr val="bg1"/>
              </a:solidFill>
            </a:endParaRPr>
          </a:p>
          <a:p>
            <a:pPr>
              <a:buNone/>
            </a:pPr>
            <a:r>
              <a:rPr lang="en-US" sz="1400" dirty="0">
                <a:solidFill>
                  <a:schemeClr val="bg1"/>
                </a:solidFill>
                <a:ea typeface="+mn-lt"/>
                <a:cs typeface="+mn-lt"/>
              </a:rPr>
              <a:t>│  └─ Preprocessing</a:t>
            </a:r>
            <a:endParaRPr lang="en-US" sz="1400" dirty="0">
              <a:solidFill>
                <a:schemeClr val="bg1"/>
              </a:solidFill>
            </a:endParaRPr>
          </a:p>
          <a:p>
            <a:pPr>
              <a:buNone/>
            </a:pPr>
            <a:endParaRPr lang="en-US" sz="1400" dirty="0">
              <a:solidFill>
                <a:schemeClr val="bg1"/>
              </a:solidFill>
            </a:endParaRPr>
          </a:p>
          <a:p>
            <a:pPr>
              <a:buNone/>
            </a:pPr>
            <a:r>
              <a:rPr lang="en-US" sz="1400" b="1" dirty="0">
                <a:solidFill>
                  <a:schemeClr val="bg1"/>
                </a:solidFill>
                <a:ea typeface="+mn-lt"/>
                <a:cs typeface="+mn-lt"/>
              </a:rPr>
              <a:t>Visualization:</a:t>
            </a:r>
            <a:endParaRPr lang="en-US" sz="1400" b="1">
              <a:solidFill>
                <a:schemeClr val="bg1"/>
              </a:solidFill>
            </a:endParaRPr>
          </a:p>
          <a:p>
            <a:pPr>
              <a:buNone/>
            </a:pPr>
            <a:r>
              <a:rPr lang="en-US" sz="1400" dirty="0">
                <a:solidFill>
                  <a:schemeClr val="bg1"/>
                </a:solidFill>
                <a:ea typeface="+mn-lt"/>
                <a:cs typeface="+mn-lt"/>
              </a:rPr>
              <a:t>├─ matplotlib 3.4.3</a:t>
            </a:r>
            <a:endParaRPr lang="en-US" sz="1400" dirty="0">
              <a:solidFill>
                <a:schemeClr val="bg1"/>
              </a:solidFill>
            </a:endParaRPr>
          </a:p>
          <a:p>
            <a:pPr>
              <a:buNone/>
            </a:pPr>
            <a:r>
              <a:rPr lang="en-US" sz="1400" dirty="0">
                <a:solidFill>
                  <a:schemeClr val="bg1"/>
                </a:solidFill>
                <a:ea typeface="+mn-lt"/>
                <a:cs typeface="+mn-lt"/>
              </a:rPr>
              <a:t>├─ seaborn 0.11.2</a:t>
            </a:r>
            <a:endParaRPr lang="en-US" sz="1400" dirty="0">
              <a:solidFill>
                <a:schemeClr val="bg1"/>
              </a:solidFill>
            </a:endParaRPr>
          </a:p>
          <a:p>
            <a:pPr>
              <a:buNone/>
            </a:pPr>
            <a:r>
              <a:rPr lang="en-US" sz="1400" dirty="0">
                <a:solidFill>
                  <a:schemeClr val="bg1"/>
                </a:solidFill>
                <a:ea typeface="+mn-lt"/>
                <a:cs typeface="+mn-lt"/>
              </a:rPr>
              <a:t>└─ </a:t>
            </a:r>
            <a:r>
              <a:rPr lang="en-US" sz="1400" err="1">
                <a:solidFill>
                  <a:schemeClr val="bg1"/>
                </a:solidFill>
                <a:ea typeface="+mn-lt"/>
                <a:cs typeface="+mn-lt"/>
              </a:rPr>
              <a:t>PlantUML</a:t>
            </a:r>
            <a:r>
              <a:rPr lang="en-US" sz="1400" dirty="0">
                <a:solidFill>
                  <a:schemeClr val="bg1"/>
                </a:solidFill>
                <a:ea typeface="+mn-lt"/>
                <a:cs typeface="+mn-lt"/>
              </a:rPr>
              <a:t> (for architecture diagrams)</a:t>
            </a:r>
            <a:endParaRPr lang="en-US" sz="1400" dirty="0">
              <a:solidFill>
                <a:schemeClr val="bg1"/>
              </a:solidFill>
            </a:endParaRPr>
          </a:p>
          <a:p>
            <a:pPr>
              <a:buNone/>
            </a:pPr>
            <a:endParaRPr lang="en-US" sz="1400" dirty="0">
              <a:solidFill>
                <a:schemeClr val="bg1"/>
              </a:solidFill>
            </a:endParaRPr>
          </a:p>
          <a:p>
            <a:pPr>
              <a:buNone/>
            </a:pPr>
            <a:endParaRPr lang="en-US" sz="1400" dirty="0">
              <a:solidFill>
                <a:schemeClr val="bg1"/>
              </a:solidFill>
            </a:endParaRPr>
          </a:p>
          <a:p>
            <a:pPr marL="0" indent="0">
              <a:buNone/>
            </a:pPr>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p:txBody>
      </p:sp>
    </p:spTree>
    <p:extLst>
      <p:ext uri="{BB962C8B-B14F-4D97-AF65-F5344CB8AC3E}">
        <p14:creationId xmlns:p14="http://schemas.microsoft.com/office/powerpoint/2010/main" val="2037417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0743AE7-0473-81E8-0365-30ADF6C86ED5}"/>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 Literature / References</a:t>
            </a:r>
          </a:p>
          <a:p>
            <a:pPr algn="r"/>
            <a:endParaRPr lang="en-US" sz="4000">
              <a:solidFill>
                <a:srgbClr val="FFFFFF"/>
              </a:solidFill>
            </a:endParaRPr>
          </a:p>
        </p:txBody>
      </p:sp>
      <p:graphicFrame>
        <p:nvGraphicFramePr>
          <p:cNvPr id="20" name="Content Placeholder 2">
            <a:extLst>
              <a:ext uri="{FF2B5EF4-FFF2-40B4-BE49-F238E27FC236}">
                <a16:creationId xmlns:a16="http://schemas.microsoft.com/office/drawing/2014/main" id="{EDF4A75A-E3CB-6035-DA8C-27EDCFFFAE71}"/>
              </a:ext>
            </a:extLst>
          </p:cNvPr>
          <p:cNvGraphicFramePr>
            <a:graphicFrameLocks noGrp="1"/>
          </p:cNvGraphicFramePr>
          <p:nvPr>
            <p:ph idx="1"/>
          </p:nvPr>
        </p:nvGraphicFramePr>
        <p:xfrm>
          <a:off x="6503158" y="649480"/>
          <a:ext cx="4862447" cy="5546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3696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8" name="Rectangle 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A80F12-EAF3-E6BD-1D59-3C397C9B228A}"/>
              </a:ext>
            </a:extLst>
          </p:cNvPr>
          <p:cNvSpPr>
            <a:spLocks noGrp="1"/>
          </p:cNvSpPr>
          <p:nvPr>
            <p:ph type="title"/>
          </p:nvPr>
        </p:nvSpPr>
        <p:spPr>
          <a:xfrm>
            <a:off x="1043631" y="809898"/>
            <a:ext cx="9942716" cy="1554480"/>
          </a:xfrm>
        </p:spPr>
        <p:txBody>
          <a:bodyPr anchor="ctr">
            <a:normAutofit/>
          </a:bodyPr>
          <a:lstStyle/>
          <a:p>
            <a:pPr>
              <a:spcBef>
                <a:spcPts val="1000"/>
              </a:spcBef>
            </a:pPr>
            <a:r>
              <a:rPr lang="en-US" sz="4800">
                <a:latin typeface="Aptos"/>
              </a:rPr>
              <a:t>Dataset Citation</a:t>
            </a:r>
          </a:p>
        </p:txBody>
      </p:sp>
      <p:sp>
        <p:nvSpPr>
          <p:cNvPr id="3" name="Content Placeholder 2">
            <a:extLst>
              <a:ext uri="{FF2B5EF4-FFF2-40B4-BE49-F238E27FC236}">
                <a16:creationId xmlns:a16="http://schemas.microsoft.com/office/drawing/2014/main" id="{E6FF8BDE-7460-0CA6-7F88-EC90830049F7}"/>
              </a:ext>
            </a:extLst>
          </p:cNvPr>
          <p:cNvSpPr>
            <a:spLocks noGrp="1"/>
          </p:cNvSpPr>
          <p:nvPr>
            <p:ph idx="1"/>
          </p:nvPr>
        </p:nvSpPr>
        <p:spPr>
          <a:xfrm>
            <a:off x="1045028" y="3017522"/>
            <a:ext cx="9941319" cy="3124658"/>
          </a:xfrm>
        </p:spPr>
        <p:txBody>
          <a:bodyPr vert="horz" lIns="91440" tIns="45720" rIns="91440" bIns="45720" rtlCol="0" anchor="ctr">
            <a:normAutofit/>
          </a:bodyPr>
          <a:lstStyle/>
          <a:p>
            <a:pPr marL="0" indent="0">
              <a:buNone/>
            </a:pPr>
            <a:r>
              <a:rPr lang="en-US" sz="2400" dirty="0"/>
              <a:t>Clickstream Data for Online Shopping [Dataset]. (2019). UCI Machine Learning Repository. </a:t>
            </a:r>
            <a:r>
              <a:rPr lang="en-US" sz="2400" dirty="0">
                <a:hlinkClick r:id="rId2"/>
              </a:rPr>
              <a:t>https://doi.org/10.24432/C5QK7X</a:t>
            </a:r>
            <a:r>
              <a:rPr lang="en-US" sz="2400" dirty="0"/>
              <a:t> Licensed under CC BY 4.0</a:t>
            </a:r>
          </a:p>
        </p:txBody>
      </p:sp>
      <p:cxnSp>
        <p:nvCxnSpPr>
          <p:cNvPr id="34" name="Straight Connector 3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4596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 name="Group 6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65" name="Rectangle 6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 name="Rectangle 6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375EAC-49C5-2010-F997-B32BBF1B5950}"/>
              </a:ext>
            </a:extLst>
          </p:cNvPr>
          <p:cNvSpPr>
            <a:spLocks noGrp="1"/>
          </p:cNvSpPr>
          <p:nvPr>
            <p:ph type="title"/>
          </p:nvPr>
        </p:nvSpPr>
        <p:spPr>
          <a:xfrm>
            <a:off x="1043631" y="809898"/>
            <a:ext cx="10173010" cy="1554480"/>
          </a:xfrm>
        </p:spPr>
        <p:txBody>
          <a:bodyPr anchor="ctr">
            <a:normAutofit/>
          </a:bodyPr>
          <a:lstStyle/>
          <a:p>
            <a:r>
              <a:rPr lang="en-US" sz="4800"/>
              <a:t>Conclusion </a:t>
            </a:r>
          </a:p>
        </p:txBody>
      </p:sp>
      <p:cxnSp>
        <p:nvCxnSpPr>
          <p:cNvPr id="71" name="Straight Connector 7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726FFC9-D2DD-E7F1-15FF-556E3C355B5F}"/>
              </a:ext>
            </a:extLst>
          </p:cNvPr>
          <p:cNvGraphicFramePr>
            <a:graphicFrameLocks noGrp="1"/>
          </p:cNvGraphicFramePr>
          <p:nvPr>
            <p:ph idx="1"/>
            <p:extLst>
              <p:ext uri="{D42A27DB-BD31-4B8C-83A1-F6EECF244321}">
                <p14:modId xmlns:p14="http://schemas.microsoft.com/office/powerpoint/2010/main" val="2050231137"/>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1430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Decoding E-Commerce Success: Predictive Analytics and User Segmentation in Online Retail Clickstream Data</vt:lpstr>
      <vt:lpstr>Problem Statement &amp; Objective </vt:lpstr>
      <vt:lpstr>Dataset Description </vt:lpstr>
      <vt:lpstr> Data Preprocessing &amp; Exploration </vt:lpstr>
      <vt:lpstr>Data Preprocessing &amp; Exploration </vt:lpstr>
      <vt:lpstr>Analytical Approach / Methodology </vt:lpstr>
      <vt:lpstr>Analytical Approach /Methodology  </vt:lpstr>
      <vt:lpstr>Feature Extraction / Data Reduction </vt:lpstr>
      <vt:lpstr> Predictive Modelling / Forecasting </vt:lpstr>
      <vt:lpstr>Results (Machine Learning Models)</vt:lpstr>
      <vt:lpstr>Results (Time Series)</vt:lpstr>
      <vt:lpstr>Visualization &amp; Insights </vt:lpstr>
      <vt:lpstr>Visualization &amp; Insights </vt:lpstr>
      <vt:lpstr>Visualization &amp; Insights </vt:lpstr>
      <vt:lpstr>Visualization &amp; Insights </vt:lpstr>
      <vt:lpstr>Visualization &amp; Insights </vt:lpstr>
      <vt:lpstr>Visualization &amp; Insights </vt:lpstr>
      <vt:lpstr>Visualization &amp; Insights </vt:lpstr>
      <vt:lpstr>Business Insight &amp; Decision Support </vt:lpstr>
      <vt:lpstr>Business Insight &amp; Decision Support </vt:lpstr>
      <vt:lpstr>Business Insight &amp; Decision Support </vt:lpstr>
      <vt:lpstr>Tools &amp; Technologies Used  </vt:lpstr>
      <vt:lpstr> Literature / References </vt:lpstr>
      <vt:lpstr>Dataset Citation</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260</cp:revision>
  <dcterms:created xsi:type="dcterms:W3CDTF">2025-11-20T14:13:19Z</dcterms:created>
  <dcterms:modified xsi:type="dcterms:W3CDTF">2025-11-20T15:20:11Z</dcterms:modified>
</cp:coreProperties>
</file>